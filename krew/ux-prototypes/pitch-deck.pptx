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0" y="1097280"/>
            <a:ext cx="12191695" cy="548640"/>
          </a:xfrm>
          <a:prstGeom prst="rect">
            <a:avLst/>
          </a:prstGeom>
          <a:noFill/>
        </p:spPr>
        <p:txBody>
          <a:bodyPr wrap="square">
            <a:spAutoFit/>
          </a:bodyPr>
          <a:lstStyle/>
          <a:p>
            <a:pPr algn="ctr">
              <a:defRPr sz="2800" b="1">
                <a:solidFill>
                  <a:srgbClr val="4F46E5"/>
                </a:solidFill>
                <a:latin typeface="Calibri"/>
              </a:defRPr>
            </a:pPr>
            <a:r>
              <a:t>Krew</a:t>
            </a:r>
          </a:p>
        </p:txBody>
      </p:sp>
      <p:sp>
        <p:nvSpPr>
          <p:cNvPr id="3" name="TextBox 2"/>
          <p:cNvSpPr txBox="1"/>
          <p:nvPr/>
        </p:nvSpPr>
        <p:spPr>
          <a:xfrm>
            <a:off x="0" y="1737360"/>
            <a:ext cx="12191695" cy="914400"/>
          </a:xfrm>
          <a:prstGeom prst="rect">
            <a:avLst/>
          </a:prstGeom>
          <a:noFill/>
        </p:spPr>
        <p:txBody>
          <a:bodyPr wrap="square">
            <a:spAutoFit/>
          </a:bodyPr>
          <a:lstStyle/>
          <a:p>
            <a:pPr algn="ctr">
              <a:defRPr sz="4800" b="1">
                <a:solidFill>
                  <a:srgbClr val="1A1A1A"/>
                </a:solidFill>
                <a:latin typeface="Calibri"/>
              </a:defRPr>
            </a:pPr>
            <a:r>
              <a:t>Your AI HR Department</a:t>
            </a:r>
          </a:p>
        </p:txBody>
      </p:sp>
      <p:sp>
        <p:nvSpPr>
          <p:cNvPr id="4" name="TextBox 3"/>
          <p:cNvSpPr txBox="1"/>
          <p:nvPr/>
        </p:nvSpPr>
        <p:spPr>
          <a:xfrm>
            <a:off x="0" y="2651760"/>
            <a:ext cx="12191695" cy="457200"/>
          </a:xfrm>
          <a:prstGeom prst="rect">
            <a:avLst/>
          </a:prstGeom>
          <a:noFill/>
        </p:spPr>
        <p:txBody>
          <a:bodyPr wrap="square">
            <a:spAutoFit/>
          </a:bodyPr>
          <a:lstStyle/>
          <a:p>
            <a:pPr algn="ctr">
              <a:defRPr sz="2000" b="0">
                <a:solidFill>
                  <a:srgbClr val="6B7280"/>
                </a:solidFill>
                <a:latin typeface="Calibri"/>
              </a:defRPr>
            </a:pPr>
            <a:r>
              <a:t>18 virtual employees. 5 divisions. One subscription.</a:t>
            </a:r>
          </a:p>
        </p:txBody>
      </p:sp>
      <p:sp>
        <p:nvSpPr>
          <p:cNvPr id="5" name="Oval 4"/>
          <p:cNvSpPr/>
          <p:nvPr/>
        </p:nvSpPr>
        <p:spPr>
          <a:xfrm>
            <a:off x="4297680" y="3474720"/>
            <a:ext cx="502920" cy="502920"/>
          </a:xfrm>
          <a:prstGeom prst="ellipse">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700" b="1">
                <a:solidFill>
                  <a:srgbClr val="4F46E5"/>
                </a:solidFill>
                <a:latin typeface="Calibri"/>
              </a:defRPr>
            </a:pPr>
            <a:r>
              <a:t>D</a:t>
            </a:r>
          </a:p>
        </p:txBody>
      </p:sp>
      <p:sp>
        <p:nvSpPr>
          <p:cNvPr id="6" name="Oval 5"/>
          <p:cNvSpPr/>
          <p:nvPr/>
        </p:nvSpPr>
        <p:spPr>
          <a:xfrm>
            <a:off x="4956048" y="3474720"/>
            <a:ext cx="502920" cy="502920"/>
          </a:xfrm>
          <a:prstGeom prst="ellipse">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700" b="1">
                <a:solidFill>
                  <a:srgbClr val="2563EB"/>
                </a:solidFill>
                <a:latin typeface="Calibri"/>
              </a:defRPr>
            </a:pPr>
            <a:r>
              <a:t>W</a:t>
            </a:r>
          </a:p>
        </p:txBody>
      </p:sp>
      <p:sp>
        <p:nvSpPr>
          <p:cNvPr id="7" name="Oval 6"/>
          <p:cNvSpPr/>
          <p:nvPr/>
        </p:nvSpPr>
        <p:spPr>
          <a:xfrm>
            <a:off x="5614416" y="3474720"/>
            <a:ext cx="502920" cy="502920"/>
          </a:xfrm>
          <a:prstGeom prst="ellipse">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700" b="1">
                <a:solidFill>
                  <a:srgbClr val="16A34A"/>
                </a:solidFill>
                <a:latin typeface="Calibri"/>
              </a:defRPr>
            </a:pPr>
            <a:r>
              <a:t>M</a:t>
            </a:r>
          </a:p>
        </p:txBody>
      </p:sp>
      <p:sp>
        <p:nvSpPr>
          <p:cNvPr id="8" name="Oval 7"/>
          <p:cNvSpPr/>
          <p:nvPr/>
        </p:nvSpPr>
        <p:spPr>
          <a:xfrm>
            <a:off x="6272784" y="3474720"/>
            <a:ext cx="502920" cy="502920"/>
          </a:xfrm>
          <a:prstGeom prst="ellipse">
            <a:avLst/>
          </a:prstGeom>
          <a:solidFill>
            <a:srgbClr val="FCE7F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700" b="1">
                <a:solidFill>
                  <a:srgbClr val="DB2777"/>
                </a:solidFill>
                <a:latin typeface="Calibri"/>
              </a:defRPr>
            </a:pPr>
            <a:r>
              <a:t>Y</a:t>
            </a:r>
          </a:p>
        </p:txBody>
      </p:sp>
      <p:sp>
        <p:nvSpPr>
          <p:cNvPr id="9" name="Oval 8"/>
          <p:cNvSpPr/>
          <p:nvPr/>
        </p:nvSpPr>
        <p:spPr>
          <a:xfrm>
            <a:off x="6931152" y="3474720"/>
            <a:ext cx="502920" cy="502920"/>
          </a:xfrm>
          <a:prstGeom prst="ellipse">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700" b="1">
                <a:solidFill>
                  <a:srgbClr val="EA580C"/>
                </a:solidFill>
                <a:latin typeface="Calibri"/>
              </a:defRPr>
            </a:pPr>
            <a:r>
              <a:t>N</a:t>
            </a:r>
          </a:p>
        </p:txBody>
      </p:sp>
      <p:sp>
        <p:nvSpPr>
          <p:cNvPr id="10" name="Oval 9"/>
          <p:cNvSpPr/>
          <p:nvPr/>
        </p:nvSpPr>
        <p:spPr>
          <a:xfrm>
            <a:off x="7589520" y="3474720"/>
            <a:ext cx="502920" cy="502920"/>
          </a:xfrm>
          <a:prstGeom prst="ellipse">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700" b="1">
                <a:solidFill>
                  <a:srgbClr val="7C3AED"/>
                </a:solidFill>
                <a:latin typeface="Calibri"/>
              </a:defRPr>
            </a:pPr>
            <a:r>
              <a:t>S</a:t>
            </a:r>
          </a:p>
        </p:txBody>
      </p:sp>
      <p:sp>
        <p:nvSpPr>
          <p:cNvPr id="11" name="TextBox 10"/>
          <p:cNvSpPr txBox="1"/>
          <p:nvPr/>
        </p:nvSpPr>
        <p:spPr>
          <a:xfrm>
            <a:off x="0" y="4572000"/>
            <a:ext cx="12191695" cy="365760"/>
          </a:xfrm>
          <a:prstGeom prst="rect">
            <a:avLst/>
          </a:prstGeom>
          <a:noFill/>
        </p:spPr>
        <p:txBody>
          <a:bodyPr wrap="square">
            <a:spAutoFit/>
          </a:bodyPr>
          <a:lstStyle/>
          <a:p>
            <a:pPr algn="ctr">
              <a:defRPr sz="1300" b="0">
                <a:solidFill>
                  <a:srgbClr val="9CA3AF"/>
                </a:solidFill>
                <a:latin typeface="Calibri"/>
              </a:defRPr>
            </a:pPr>
            <a:r>
              <a:t>Pre-Seed Pitch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spAutoFit/>
          </a:bodyPr>
          <a:lstStyle/>
          <a:p>
            <a:pPr algn="l">
              <a:defRPr sz="1100" b="1">
                <a:solidFill>
                  <a:srgbClr val="4F46E5"/>
                </a:solidFill>
                <a:latin typeface="Calibri"/>
              </a:defRPr>
            </a:pPr>
            <a:r>
              <a:t>THE PROBLEM</a:t>
            </a:r>
          </a:p>
        </p:txBody>
      </p:sp>
      <p:sp>
        <p:nvSpPr>
          <p:cNvPr id="3" name="TextBox 2"/>
          <p:cNvSpPr txBox="1"/>
          <p:nvPr/>
        </p:nvSpPr>
        <p:spPr>
          <a:xfrm>
            <a:off x="731520" y="822960"/>
            <a:ext cx="9144000" cy="731520"/>
          </a:xfrm>
          <a:prstGeom prst="rect">
            <a:avLst/>
          </a:prstGeom>
          <a:noFill/>
        </p:spPr>
        <p:txBody>
          <a:bodyPr wrap="square">
            <a:spAutoFit/>
          </a:bodyPr>
          <a:lstStyle/>
          <a:p>
            <a:pPr algn="l">
              <a:defRPr sz="3600" b="1">
                <a:solidFill>
                  <a:srgbClr val="1A1A1A"/>
                </a:solidFill>
                <a:latin typeface="Calibri"/>
              </a:defRPr>
            </a:pPr>
            <a:r>
              <a:t>Companies can't afford great HR</a:t>
            </a:r>
          </a:p>
        </p:txBody>
      </p:sp>
      <p:sp>
        <p:nvSpPr>
          <p:cNvPr id="4" name="TextBox 3"/>
          <p:cNvSpPr txBox="1"/>
          <p:nvPr/>
        </p:nvSpPr>
        <p:spPr>
          <a:xfrm>
            <a:off x="731520" y="1463040"/>
            <a:ext cx="8229600" cy="548640"/>
          </a:xfrm>
          <a:prstGeom prst="rect">
            <a:avLst/>
          </a:prstGeom>
          <a:noFill/>
        </p:spPr>
        <p:txBody>
          <a:bodyPr wrap="square">
            <a:spAutoFit/>
          </a:bodyPr>
          <a:lstStyle/>
          <a:p>
            <a:pPr algn="l">
              <a:defRPr sz="1600" b="0">
                <a:solidFill>
                  <a:srgbClr val="6B7280"/>
                </a:solidFill>
                <a:latin typeface="Calibri"/>
              </a:defRPr>
            </a:pPr>
            <a:r>
              <a:t>Most companies either have no HR at all, or an overwhelmed team buried in admin work.</a:t>
            </a:r>
          </a:p>
        </p:txBody>
      </p:sp>
      <p:sp>
        <p:nvSpPr>
          <p:cNvPr id="5" name="Rounded Rectangle 4"/>
          <p:cNvSpPr/>
          <p:nvPr/>
        </p:nvSpPr>
        <p:spPr>
          <a:xfrm>
            <a:off x="731520" y="2103120"/>
            <a:ext cx="5029200" cy="219456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4572000" cy="365760"/>
          </a:xfrm>
          <a:prstGeom prst="rect">
            <a:avLst/>
          </a:prstGeom>
          <a:noFill/>
        </p:spPr>
        <p:txBody>
          <a:bodyPr wrap="square">
            <a:spAutoFit/>
          </a:bodyPr>
          <a:lstStyle/>
          <a:p>
            <a:pPr algn="l">
              <a:defRPr sz="1500" b="1">
                <a:solidFill>
                  <a:srgbClr val="1A1A1A"/>
                </a:solidFill>
                <a:latin typeface="Calibri"/>
              </a:defRPr>
            </a:pPr>
            <a:r>
              <a:t>Small &amp; Mid-Size (10-500 employees)</a:t>
            </a:r>
          </a:p>
        </p:txBody>
      </p:sp>
      <p:sp>
        <p:nvSpPr>
          <p:cNvPr id="7" name="TextBox 6"/>
          <p:cNvSpPr txBox="1"/>
          <p:nvPr/>
        </p:nvSpPr>
        <p:spPr>
          <a:xfrm>
            <a:off x="1188720" y="2651760"/>
            <a:ext cx="4389120" cy="320040"/>
          </a:xfrm>
          <a:prstGeom prst="rect">
            <a:avLst/>
          </a:prstGeom>
          <a:noFill/>
        </p:spPr>
        <p:txBody>
          <a:bodyPr wrap="square">
            <a:spAutoFit/>
          </a:bodyPr>
          <a:lstStyle/>
          <a:p>
            <a:pPr algn="l">
              <a:defRPr sz="1300" b="0">
                <a:solidFill>
                  <a:srgbClr val="6B7280"/>
                </a:solidFill>
                <a:latin typeface="Calibri"/>
              </a:defRPr>
            </a:pPr>
            <a:r>
              <a:t>• No HR department — founders do it on the side</a:t>
            </a:r>
          </a:p>
        </p:txBody>
      </p:sp>
      <p:sp>
        <p:nvSpPr>
          <p:cNvPr id="8" name="TextBox 7"/>
          <p:cNvSpPr txBox="1"/>
          <p:nvPr/>
        </p:nvSpPr>
        <p:spPr>
          <a:xfrm>
            <a:off x="1188720" y="2999232"/>
            <a:ext cx="4389120" cy="320040"/>
          </a:xfrm>
          <a:prstGeom prst="rect">
            <a:avLst/>
          </a:prstGeom>
          <a:noFill/>
        </p:spPr>
        <p:txBody>
          <a:bodyPr wrap="square">
            <a:spAutoFit/>
          </a:bodyPr>
          <a:lstStyle/>
          <a:p>
            <a:pPr algn="l">
              <a:defRPr sz="1300" b="0">
                <a:solidFill>
                  <a:srgbClr val="6B7280"/>
                </a:solidFill>
                <a:latin typeface="Calibri"/>
              </a:defRPr>
            </a:pPr>
            <a:r>
              <a:t>• 5-10 fragmented SaaS tools with no integration</a:t>
            </a:r>
          </a:p>
        </p:txBody>
      </p:sp>
      <p:sp>
        <p:nvSpPr>
          <p:cNvPr id="9" name="TextBox 8"/>
          <p:cNvSpPr txBox="1"/>
          <p:nvPr/>
        </p:nvSpPr>
        <p:spPr>
          <a:xfrm>
            <a:off x="1188720" y="3346704"/>
            <a:ext cx="4389120" cy="320040"/>
          </a:xfrm>
          <a:prstGeom prst="rect">
            <a:avLst/>
          </a:prstGeom>
          <a:noFill/>
        </p:spPr>
        <p:txBody>
          <a:bodyPr wrap="square">
            <a:spAutoFit/>
          </a:bodyPr>
          <a:lstStyle/>
          <a:p>
            <a:pPr algn="l">
              <a:defRPr sz="1300" b="0">
                <a:solidFill>
                  <a:srgbClr val="6B7280"/>
                </a:solidFill>
                <a:latin typeface="Calibri"/>
              </a:defRPr>
            </a:pPr>
            <a:r>
              <a:t>• Compliance risk, poor hiring, employee dissatisfaction</a:t>
            </a:r>
          </a:p>
        </p:txBody>
      </p:sp>
      <p:sp>
        <p:nvSpPr>
          <p:cNvPr id="10" name="TextBox 9"/>
          <p:cNvSpPr txBox="1"/>
          <p:nvPr/>
        </p:nvSpPr>
        <p:spPr>
          <a:xfrm>
            <a:off x="1188720" y="3694176"/>
            <a:ext cx="4389120" cy="320040"/>
          </a:xfrm>
          <a:prstGeom prst="rect">
            <a:avLst/>
          </a:prstGeom>
          <a:noFill/>
        </p:spPr>
        <p:txBody>
          <a:bodyPr wrap="square">
            <a:spAutoFit/>
          </a:bodyPr>
          <a:lstStyle/>
          <a:p>
            <a:pPr algn="l">
              <a:defRPr sz="1300" b="0">
                <a:solidFill>
                  <a:srgbClr val="6B7280"/>
                </a:solidFill>
                <a:latin typeface="Calibri"/>
              </a:defRPr>
            </a:pPr>
            <a:r>
              <a:t>• Can't justify a 562K-1.1M SAR CHRO hire</a:t>
            </a:r>
          </a:p>
        </p:txBody>
      </p:sp>
      <p:sp>
        <p:nvSpPr>
          <p:cNvPr id="11" name="Rounded Rectangle 10"/>
          <p:cNvSpPr/>
          <p:nvPr/>
        </p:nvSpPr>
        <p:spPr>
          <a:xfrm>
            <a:off x="731520" y="4480560"/>
            <a:ext cx="5029200" cy="164592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72000"/>
            <a:ext cx="4572000" cy="365760"/>
          </a:xfrm>
          <a:prstGeom prst="rect">
            <a:avLst/>
          </a:prstGeom>
          <a:noFill/>
        </p:spPr>
        <p:txBody>
          <a:bodyPr wrap="square">
            <a:spAutoFit/>
          </a:bodyPr>
          <a:lstStyle/>
          <a:p>
            <a:pPr algn="l">
              <a:defRPr sz="1500" b="1">
                <a:solidFill>
                  <a:srgbClr val="1A1A1A"/>
                </a:solidFill>
                <a:latin typeface="Calibri"/>
              </a:defRPr>
            </a:pPr>
            <a:r>
              <a:t>Growing Companies (500+ employees)</a:t>
            </a:r>
          </a:p>
        </p:txBody>
      </p:sp>
      <p:sp>
        <p:nvSpPr>
          <p:cNvPr id="13" name="TextBox 12"/>
          <p:cNvSpPr txBox="1"/>
          <p:nvPr/>
        </p:nvSpPr>
        <p:spPr>
          <a:xfrm>
            <a:off x="1188720" y="5029200"/>
            <a:ext cx="4389120" cy="320040"/>
          </a:xfrm>
          <a:prstGeom prst="rect">
            <a:avLst/>
          </a:prstGeom>
          <a:noFill/>
        </p:spPr>
        <p:txBody>
          <a:bodyPr wrap="square">
            <a:spAutoFit/>
          </a:bodyPr>
          <a:lstStyle/>
          <a:p>
            <a:pPr algn="l">
              <a:defRPr sz="1300" b="0">
                <a:solidFill>
                  <a:srgbClr val="6B7280"/>
                </a:solidFill>
                <a:latin typeface="Calibri"/>
              </a:defRPr>
            </a:pPr>
            <a:r>
              <a:t>• 60-70% of HR time goes to transactional tasks</a:t>
            </a:r>
          </a:p>
        </p:txBody>
      </p:sp>
      <p:sp>
        <p:nvSpPr>
          <p:cNvPr id="14" name="TextBox 13"/>
          <p:cNvSpPr txBox="1"/>
          <p:nvPr/>
        </p:nvSpPr>
        <p:spPr>
          <a:xfrm>
            <a:off x="1188720" y="5376672"/>
            <a:ext cx="4389120" cy="320040"/>
          </a:xfrm>
          <a:prstGeom prst="rect">
            <a:avLst/>
          </a:prstGeom>
          <a:noFill/>
        </p:spPr>
        <p:txBody>
          <a:bodyPr wrap="square">
            <a:spAutoFit/>
          </a:bodyPr>
          <a:lstStyle/>
          <a:p>
            <a:pPr algn="l">
              <a:defRPr sz="1300" b="0">
                <a:solidFill>
                  <a:srgbClr val="6B7280"/>
                </a:solidFill>
                <a:latin typeface="Calibri"/>
              </a:defRPr>
            </a:pPr>
            <a:r>
              <a:t>• Inconsistent quality across the team</a:t>
            </a:r>
          </a:p>
        </p:txBody>
      </p:sp>
      <p:sp>
        <p:nvSpPr>
          <p:cNvPr id="15" name="TextBox 14"/>
          <p:cNvSpPr txBox="1"/>
          <p:nvPr/>
        </p:nvSpPr>
        <p:spPr>
          <a:xfrm>
            <a:off x="1188720" y="5724144"/>
            <a:ext cx="4389120" cy="320040"/>
          </a:xfrm>
          <a:prstGeom prst="rect">
            <a:avLst/>
          </a:prstGeom>
          <a:noFill/>
        </p:spPr>
        <p:txBody>
          <a:bodyPr wrap="square">
            <a:spAutoFit/>
          </a:bodyPr>
          <a:lstStyle/>
          <a:p>
            <a:pPr algn="l">
              <a:defRPr sz="1300" b="0">
                <a:solidFill>
                  <a:srgbClr val="6B7280"/>
                </a:solidFill>
                <a:latin typeface="Calibri"/>
              </a:defRPr>
            </a:pPr>
            <a:r>
              <a:t>• Reactive, not proactive — always firefighting</a:t>
            </a:r>
          </a:p>
        </p:txBody>
      </p:sp>
      <p:sp>
        <p:nvSpPr>
          <p:cNvPr id="16" name="Rounded Rectangle 15"/>
          <p:cNvSpPr/>
          <p:nvPr/>
        </p:nvSpPr>
        <p:spPr>
          <a:xfrm>
            <a:off x="6400800" y="2103120"/>
            <a:ext cx="5029200" cy="402336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108960"/>
            <a:ext cx="5029200" cy="822960"/>
          </a:xfrm>
          <a:prstGeom prst="rect">
            <a:avLst/>
          </a:prstGeom>
          <a:noFill/>
        </p:spPr>
        <p:txBody>
          <a:bodyPr wrap="square">
            <a:spAutoFit/>
          </a:bodyPr>
          <a:lstStyle/>
          <a:p>
            <a:pPr algn="ctr">
              <a:defRPr sz="4800" b="1">
                <a:solidFill>
                  <a:srgbClr val="DC2626"/>
                </a:solidFill>
                <a:latin typeface="Calibri"/>
              </a:defRPr>
            </a:pPr>
            <a:r>
              <a:t>4.5M SAR</a:t>
            </a:r>
          </a:p>
        </p:txBody>
      </p:sp>
      <p:sp>
        <p:nvSpPr>
          <p:cNvPr id="18" name="TextBox 17"/>
          <p:cNvSpPr txBox="1"/>
          <p:nvPr/>
        </p:nvSpPr>
        <p:spPr>
          <a:xfrm>
            <a:off x="6400800" y="3931920"/>
            <a:ext cx="5029200" cy="457200"/>
          </a:xfrm>
          <a:prstGeom prst="rect">
            <a:avLst/>
          </a:prstGeom>
          <a:noFill/>
        </p:spPr>
        <p:txBody>
          <a:bodyPr wrap="square">
            <a:spAutoFit/>
          </a:bodyPr>
          <a:lstStyle/>
          <a:p>
            <a:pPr algn="ctr">
              <a:defRPr sz="1500" b="0">
                <a:solidFill>
                  <a:srgbClr val="6B7280"/>
                </a:solidFill>
                <a:latin typeface="Calibri"/>
              </a:defRPr>
            </a:pPr>
            <a:r>
              <a:t>Average annual cost of a full HR department</a:t>
            </a:r>
          </a:p>
        </p:txBody>
      </p:sp>
      <p:sp>
        <p:nvSpPr>
          <p:cNvPr id="19" name="TextBox 18"/>
          <p:cNvSpPr txBox="1"/>
          <p:nvPr/>
        </p:nvSpPr>
        <p:spPr>
          <a:xfrm>
            <a:off x="6400800" y="4480560"/>
            <a:ext cx="5029200" cy="365760"/>
          </a:xfrm>
          <a:prstGeom prst="rect">
            <a:avLst/>
          </a:prstGeom>
          <a:noFill/>
        </p:spPr>
        <p:txBody>
          <a:bodyPr wrap="square">
            <a:spAutoFit/>
          </a:bodyPr>
          <a:lstStyle/>
          <a:p>
            <a:pPr algn="ctr">
              <a:defRPr sz="1200" b="0">
                <a:solidFill>
                  <a:srgbClr val="9CA3AF"/>
                </a:solidFill>
                <a:latin typeface="Calibri"/>
              </a:defRPr>
            </a:pPr>
            <a:r>
              <a:t>That's before tools, legal, and compliance costs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731520" y="365760"/>
            <a:ext cx="3657600" cy="365760"/>
          </a:xfrm>
          <a:prstGeom prst="rect">
            <a:avLst/>
          </a:prstGeom>
          <a:noFill/>
        </p:spPr>
        <p:txBody>
          <a:bodyPr wrap="square">
            <a:spAutoFit/>
          </a:bodyPr>
          <a:lstStyle/>
          <a:p>
            <a:pPr algn="l">
              <a:defRPr sz="1100" b="1">
                <a:solidFill>
                  <a:srgbClr val="4F46E5"/>
                </a:solidFill>
                <a:latin typeface="Calibri"/>
              </a:defRPr>
            </a:pPr>
            <a:r>
              <a:t>THE SOLUTION</a:t>
            </a:r>
          </a:p>
        </p:txBody>
      </p:sp>
      <p:sp>
        <p:nvSpPr>
          <p:cNvPr id="3" name="TextBox 2"/>
          <p:cNvSpPr txBox="1"/>
          <p:nvPr/>
        </p:nvSpPr>
        <p:spPr>
          <a:xfrm>
            <a:off x="731520" y="731520"/>
            <a:ext cx="9144000" cy="731520"/>
          </a:xfrm>
          <a:prstGeom prst="rect">
            <a:avLst/>
          </a:prstGeom>
          <a:noFill/>
        </p:spPr>
        <p:txBody>
          <a:bodyPr wrap="square">
            <a:spAutoFit/>
          </a:bodyPr>
          <a:lstStyle/>
          <a:p>
            <a:pPr algn="l">
              <a:defRPr sz="3600" b="1">
                <a:solidFill>
                  <a:srgbClr val="1A1A1A"/>
                </a:solidFill>
                <a:latin typeface="Calibri"/>
              </a:defRPr>
            </a:pPr>
            <a:r>
              <a:t>A complete AI HR department</a:t>
            </a:r>
          </a:p>
        </p:txBody>
      </p:sp>
      <p:sp>
        <p:nvSpPr>
          <p:cNvPr id="4" name="TextBox 3"/>
          <p:cNvSpPr txBox="1"/>
          <p:nvPr/>
        </p:nvSpPr>
        <p:spPr>
          <a:xfrm>
            <a:off x="731520" y="1280160"/>
            <a:ext cx="8229600" cy="548640"/>
          </a:xfrm>
          <a:prstGeom prst="rect">
            <a:avLst/>
          </a:prstGeom>
          <a:noFill/>
        </p:spPr>
        <p:txBody>
          <a:bodyPr wrap="square">
            <a:spAutoFit/>
          </a:bodyPr>
          <a:lstStyle/>
          <a:p>
            <a:pPr algn="l">
              <a:defRPr sz="1600" b="0">
                <a:solidFill>
                  <a:srgbClr val="6B7280"/>
                </a:solidFill>
                <a:latin typeface="Calibri"/>
              </a:defRPr>
            </a:pPr>
            <a:r>
              <a:t>18 specialized virtual employees across 5 divisions. Always on. Always compliant. 90% less than traditional HR.</a:t>
            </a:r>
          </a:p>
        </p:txBody>
      </p:sp>
      <p:sp>
        <p:nvSpPr>
          <p:cNvPr id="5" name="Rounded Rectangle 4"/>
          <p:cNvSpPr/>
          <p:nvPr/>
        </p:nvSpPr>
        <p:spPr>
          <a:xfrm>
            <a:off x="731520" y="2011680"/>
            <a:ext cx="3383280" cy="182880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2194560"/>
            <a:ext cx="411480" cy="411480"/>
          </a:xfrm>
          <a:prstGeom prst="ellipse">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600" b="1">
                <a:solidFill>
                  <a:srgbClr val="4F46E5"/>
                </a:solidFill>
                <a:latin typeface="Calibri"/>
              </a:defRPr>
            </a:pPr>
            <a:r>
              <a:t>D</a:t>
            </a:r>
          </a:p>
        </p:txBody>
      </p:sp>
      <p:sp>
        <p:nvSpPr>
          <p:cNvPr id="7" name="TextBox 6"/>
          <p:cNvSpPr txBox="1"/>
          <p:nvPr/>
        </p:nvSpPr>
        <p:spPr>
          <a:xfrm>
            <a:off x="1463040" y="2176272"/>
            <a:ext cx="2286000" cy="274320"/>
          </a:xfrm>
          <a:prstGeom prst="rect">
            <a:avLst/>
          </a:prstGeom>
          <a:noFill/>
        </p:spPr>
        <p:txBody>
          <a:bodyPr wrap="square">
            <a:spAutoFit/>
          </a:bodyPr>
          <a:lstStyle/>
          <a:p>
            <a:pPr algn="l">
              <a:defRPr sz="1400" b="1">
                <a:solidFill>
                  <a:srgbClr val="1A1A1A"/>
                </a:solidFill>
                <a:latin typeface="Calibri"/>
              </a:defRPr>
            </a:pPr>
            <a:r>
              <a:t>Deema</a:t>
            </a:r>
          </a:p>
        </p:txBody>
      </p:sp>
      <p:sp>
        <p:nvSpPr>
          <p:cNvPr id="8" name="TextBox 7"/>
          <p:cNvSpPr txBox="1"/>
          <p:nvPr/>
        </p:nvSpPr>
        <p:spPr>
          <a:xfrm>
            <a:off x="1463040" y="2423160"/>
            <a:ext cx="2286000" cy="228600"/>
          </a:xfrm>
          <a:prstGeom prst="rect">
            <a:avLst/>
          </a:prstGeom>
          <a:noFill/>
        </p:spPr>
        <p:txBody>
          <a:bodyPr wrap="square">
            <a:spAutoFit/>
          </a:bodyPr>
          <a:lstStyle/>
          <a:p>
            <a:pPr algn="l">
              <a:defRPr sz="1100" b="0">
                <a:solidFill>
                  <a:srgbClr val="9CA3AF"/>
                </a:solidFill>
                <a:latin typeface="Calibri"/>
              </a:defRPr>
            </a:pPr>
            <a:r>
              <a:t>Employee Services</a:t>
            </a:r>
          </a:p>
        </p:txBody>
      </p:sp>
      <p:sp>
        <p:nvSpPr>
          <p:cNvPr id="9" name="TextBox 8"/>
          <p:cNvSpPr txBox="1"/>
          <p:nvPr/>
        </p:nvSpPr>
        <p:spPr>
          <a:xfrm>
            <a:off x="914400" y="2788920"/>
            <a:ext cx="3017520" cy="914400"/>
          </a:xfrm>
          <a:prstGeom prst="rect">
            <a:avLst/>
          </a:prstGeom>
          <a:noFill/>
        </p:spPr>
        <p:txBody>
          <a:bodyPr wrap="square">
            <a:spAutoFit/>
          </a:bodyPr>
          <a:lstStyle/>
          <a:p>
            <a:pPr algn="l">
              <a:defRPr sz="1200" b="0">
                <a:solidFill>
                  <a:srgbClr val="6B7280"/>
                </a:solidFill>
                <a:latin typeface="Calibri"/>
              </a:defRPr>
            </a:pPr>
            <a:r>
              <a:t>Answers employee questions instantly — PTO, benefits, policies. Via WhatsApp, Slack, or email. 24/7.</a:t>
            </a:r>
          </a:p>
        </p:txBody>
      </p:sp>
      <p:sp>
        <p:nvSpPr>
          <p:cNvPr id="10" name="Rounded Rectangle 9"/>
          <p:cNvSpPr/>
          <p:nvPr/>
        </p:nvSpPr>
        <p:spPr>
          <a:xfrm>
            <a:off x="4343400" y="2011680"/>
            <a:ext cx="3383280" cy="182880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26280" y="2194560"/>
            <a:ext cx="411480" cy="411480"/>
          </a:xfrm>
          <a:prstGeom prst="ellipse">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600" b="1">
                <a:solidFill>
                  <a:srgbClr val="2563EB"/>
                </a:solidFill>
                <a:latin typeface="Calibri"/>
              </a:defRPr>
            </a:pPr>
            <a:r>
              <a:t>W</a:t>
            </a:r>
          </a:p>
        </p:txBody>
      </p:sp>
      <p:sp>
        <p:nvSpPr>
          <p:cNvPr id="12" name="TextBox 11"/>
          <p:cNvSpPr txBox="1"/>
          <p:nvPr/>
        </p:nvSpPr>
        <p:spPr>
          <a:xfrm>
            <a:off x="5074920" y="2176272"/>
            <a:ext cx="2286000" cy="274320"/>
          </a:xfrm>
          <a:prstGeom prst="rect">
            <a:avLst/>
          </a:prstGeom>
          <a:noFill/>
        </p:spPr>
        <p:txBody>
          <a:bodyPr wrap="square">
            <a:spAutoFit/>
          </a:bodyPr>
          <a:lstStyle/>
          <a:p>
            <a:pPr algn="l">
              <a:defRPr sz="1400" b="1">
                <a:solidFill>
                  <a:srgbClr val="1A1A1A"/>
                </a:solidFill>
                <a:latin typeface="Calibri"/>
              </a:defRPr>
            </a:pPr>
            <a:r>
              <a:t>Waleed</a:t>
            </a:r>
          </a:p>
        </p:txBody>
      </p:sp>
      <p:sp>
        <p:nvSpPr>
          <p:cNvPr id="13" name="TextBox 12"/>
          <p:cNvSpPr txBox="1"/>
          <p:nvPr/>
        </p:nvSpPr>
        <p:spPr>
          <a:xfrm>
            <a:off x="5074920" y="2423160"/>
            <a:ext cx="2286000" cy="228600"/>
          </a:xfrm>
          <a:prstGeom prst="rect">
            <a:avLst/>
          </a:prstGeom>
          <a:noFill/>
        </p:spPr>
        <p:txBody>
          <a:bodyPr wrap="square">
            <a:spAutoFit/>
          </a:bodyPr>
          <a:lstStyle/>
          <a:p>
            <a:pPr algn="l">
              <a:defRPr sz="1100" b="0">
                <a:solidFill>
                  <a:srgbClr val="9CA3AF"/>
                </a:solidFill>
                <a:latin typeface="Calibri"/>
              </a:defRPr>
            </a:pPr>
            <a:r>
              <a:t>Onboarding</a:t>
            </a:r>
          </a:p>
        </p:txBody>
      </p:sp>
      <p:sp>
        <p:nvSpPr>
          <p:cNvPr id="14" name="TextBox 13"/>
          <p:cNvSpPr txBox="1"/>
          <p:nvPr/>
        </p:nvSpPr>
        <p:spPr>
          <a:xfrm>
            <a:off x="4526280" y="2788920"/>
            <a:ext cx="3017520" cy="914400"/>
          </a:xfrm>
          <a:prstGeom prst="rect">
            <a:avLst/>
          </a:prstGeom>
          <a:noFill/>
        </p:spPr>
        <p:txBody>
          <a:bodyPr wrap="square">
            <a:spAutoFit/>
          </a:bodyPr>
          <a:lstStyle/>
          <a:p>
            <a:pPr algn="l">
              <a:defRPr sz="1200" b="0">
                <a:solidFill>
                  <a:srgbClr val="6B7280"/>
                </a:solidFill>
                <a:latin typeface="Calibri"/>
              </a:defRPr>
            </a:pPr>
            <a:r>
              <a:t>Guides every new hire from offer letter to day 90. Personalized checklists, buddy matching, check-ins.</a:t>
            </a:r>
          </a:p>
        </p:txBody>
      </p:sp>
      <p:sp>
        <p:nvSpPr>
          <p:cNvPr id="15" name="Rounded Rectangle 14"/>
          <p:cNvSpPr/>
          <p:nvPr/>
        </p:nvSpPr>
        <p:spPr>
          <a:xfrm>
            <a:off x="7955280" y="2011680"/>
            <a:ext cx="3383280" cy="182880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138160" y="2194560"/>
            <a:ext cx="411480" cy="411480"/>
          </a:xfrm>
          <a:prstGeom prst="ellipse">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600" b="1">
                <a:solidFill>
                  <a:srgbClr val="16A34A"/>
                </a:solidFill>
                <a:latin typeface="Calibri"/>
              </a:defRPr>
            </a:pPr>
            <a:r>
              <a:t>M</a:t>
            </a:r>
          </a:p>
        </p:txBody>
      </p:sp>
      <p:sp>
        <p:nvSpPr>
          <p:cNvPr id="17" name="TextBox 16"/>
          <p:cNvSpPr txBox="1"/>
          <p:nvPr/>
        </p:nvSpPr>
        <p:spPr>
          <a:xfrm>
            <a:off x="8686800" y="2176272"/>
            <a:ext cx="2286000" cy="274320"/>
          </a:xfrm>
          <a:prstGeom prst="rect">
            <a:avLst/>
          </a:prstGeom>
          <a:noFill/>
        </p:spPr>
        <p:txBody>
          <a:bodyPr wrap="square">
            <a:spAutoFit/>
          </a:bodyPr>
          <a:lstStyle/>
          <a:p>
            <a:pPr algn="l">
              <a:defRPr sz="1400" b="1">
                <a:solidFill>
                  <a:srgbClr val="1A1A1A"/>
                </a:solidFill>
                <a:latin typeface="Calibri"/>
              </a:defRPr>
            </a:pPr>
            <a:r>
              <a:t>Mohammad</a:t>
            </a:r>
          </a:p>
        </p:txBody>
      </p:sp>
      <p:sp>
        <p:nvSpPr>
          <p:cNvPr id="18" name="TextBox 17"/>
          <p:cNvSpPr txBox="1"/>
          <p:nvPr/>
        </p:nvSpPr>
        <p:spPr>
          <a:xfrm>
            <a:off x="8686800" y="2423160"/>
            <a:ext cx="2286000" cy="228600"/>
          </a:xfrm>
          <a:prstGeom prst="rect">
            <a:avLst/>
          </a:prstGeom>
          <a:noFill/>
        </p:spPr>
        <p:txBody>
          <a:bodyPr wrap="square">
            <a:spAutoFit/>
          </a:bodyPr>
          <a:lstStyle/>
          <a:p>
            <a:pPr algn="l">
              <a:defRPr sz="1100" b="0">
                <a:solidFill>
                  <a:srgbClr val="9CA3AF"/>
                </a:solidFill>
                <a:latin typeface="Calibri"/>
              </a:defRPr>
            </a:pPr>
            <a:r>
              <a:t>Recruitment</a:t>
            </a:r>
          </a:p>
        </p:txBody>
      </p:sp>
      <p:sp>
        <p:nvSpPr>
          <p:cNvPr id="19" name="TextBox 18"/>
          <p:cNvSpPr txBox="1"/>
          <p:nvPr/>
        </p:nvSpPr>
        <p:spPr>
          <a:xfrm>
            <a:off x="8138160" y="2788920"/>
            <a:ext cx="3017520" cy="914400"/>
          </a:xfrm>
          <a:prstGeom prst="rect">
            <a:avLst/>
          </a:prstGeom>
          <a:noFill/>
        </p:spPr>
        <p:txBody>
          <a:bodyPr wrap="square">
            <a:spAutoFit/>
          </a:bodyPr>
          <a:lstStyle/>
          <a:p>
            <a:pPr algn="l">
              <a:defRPr sz="1200" b="0">
                <a:solidFill>
                  <a:srgbClr val="6B7280"/>
                </a:solidFill>
                <a:latin typeface="Calibri"/>
              </a:defRPr>
            </a:pPr>
            <a:r>
              <a:t>Screens resumes, ranks candidates, schedules interviews. Handles 80% of the hiring pipeline.</a:t>
            </a:r>
          </a:p>
        </p:txBody>
      </p:sp>
      <p:sp>
        <p:nvSpPr>
          <p:cNvPr id="20" name="Rounded Rectangle 19"/>
          <p:cNvSpPr/>
          <p:nvPr/>
        </p:nvSpPr>
        <p:spPr>
          <a:xfrm>
            <a:off x="731520" y="4069080"/>
            <a:ext cx="3383280" cy="182880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4251960"/>
            <a:ext cx="411480" cy="411480"/>
          </a:xfrm>
          <a:prstGeom prst="ellipse">
            <a:avLst/>
          </a:prstGeom>
          <a:solidFill>
            <a:srgbClr val="FCE7F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600" b="1">
                <a:solidFill>
                  <a:srgbClr val="DB2777"/>
                </a:solidFill>
                <a:latin typeface="Calibri"/>
              </a:defRPr>
            </a:pPr>
            <a:r>
              <a:t>Y</a:t>
            </a:r>
          </a:p>
        </p:txBody>
      </p:sp>
      <p:sp>
        <p:nvSpPr>
          <p:cNvPr id="22" name="TextBox 21"/>
          <p:cNvSpPr txBox="1"/>
          <p:nvPr/>
        </p:nvSpPr>
        <p:spPr>
          <a:xfrm>
            <a:off x="1463040" y="4233672"/>
            <a:ext cx="2286000" cy="274320"/>
          </a:xfrm>
          <a:prstGeom prst="rect">
            <a:avLst/>
          </a:prstGeom>
          <a:noFill/>
        </p:spPr>
        <p:txBody>
          <a:bodyPr wrap="square">
            <a:spAutoFit/>
          </a:bodyPr>
          <a:lstStyle/>
          <a:p>
            <a:pPr algn="l">
              <a:defRPr sz="1400" b="1">
                <a:solidFill>
                  <a:srgbClr val="1A1A1A"/>
                </a:solidFill>
                <a:latin typeface="Calibri"/>
              </a:defRPr>
            </a:pPr>
            <a:r>
              <a:t>Yara</a:t>
            </a:r>
          </a:p>
        </p:txBody>
      </p:sp>
      <p:sp>
        <p:nvSpPr>
          <p:cNvPr id="23" name="TextBox 22"/>
          <p:cNvSpPr txBox="1"/>
          <p:nvPr/>
        </p:nvSpPr>
        <p:spPr>
          <a:xfrm>
            <a:off x="1463040" y="4480560"/>
            <a:ext cx="2286000" cy="228600"/>
          </a:xfrm>
          <a:prstGeom prst="rect">
            <a:avLst/>
          </a:prstGeom>
          <a:noFill/>
        </p:spPr>
        <p:txBody>
          <a:bodyPr wrap="square">
            <a:spAutoFit/>
          </a:bodyPr>
          <a:lstStyle/>
          <a:p>
            <a:pPr algn="l">
              <a:defRPr sz="1100" b="0">
                <a:solidFill>
                  <a:srgbClr val="9CA3AF"/>
                </a:solidFill>
                <a:latin typeface="Calibri"/>
              </a:defRPr>
            </a:pPr>
            <a:r>
              <a:t>Compliance</a:t>
            </a:r>
          </a:p>
        </p:txBody>
      </p:sp>
      <p:sp>
        <p:nvSpPr>
          <p:cNvPr id="24" name="TextBox 23"/>
          <p:cNvSpPr txBox="1"/>
          <p:nvPr/>
        </p:nvSpPr>
        <p:spPr>
          <a:xfrm>
            <a:off x="914400" y="4846320"/>
            <a:ext cx="3017520" cy="914400"/>
          </a:xfrm>
          <a:prstGeom prst="rect">
            <a:avLst/>
          </a:prstGeom>
          <a:noFill/>
        </p:spPr>
        <p:txBody>
          <a:bodyPr wrap="square">
            <a:spAutoFit/>
          </a:bodyPr>
          <a:lstStyle/>
          <a:p>
            <a:pPr algn="l">
              <a:defRPr sz="1200" b="0">
                <a:solidFill>
                  <a:srgbClr val="6B7280"/>
                </a:solidFill>
                <a:latin typeface="Calibri"/>
              </a:defRPr>
            </a:pPr>
            <a:r>
              <a:t>Monitors regulations, drafts policy updates, runs compliance audits, tracks training completion.</a:t>
            </a:r>
          </a:p>
        </p:txBody>
      </p:sp>
      <p:sp>
        <p:nvSpPr>
          <p:cNvPr id="25" name="Rounded Rectangle 24"/>
          <p:cNvSpPr/>
          <p:nvPr/>
        </p:nvSpPr>
        <p:spPr>
          <a:xfrm>
            <a:off x="4343400" y="4069080"/>
            <a:ext cx="3383280" cy="182880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26280" y="4251960"/>
            <a:ext cx="411480" cy="411480"/>
          </a:xfrm>
          <a:prstGeom prst="ellipse">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600" b="1">
                <a:solidFill>
                  <a:srgbClr val="EA580C"/>
                </a:solidFill>
                <a:latin typeface="Calibri"/>
              </a:defRPr>
            </a:pPr>
            <a:r>
              <a:t>N</a:t>
            </a:r>
          </a:p>
        </p:txBody>
      </p:sp>
      <p:sp>
        <p:nvSpPr>
          <p:cNvPr id="27" name="TextBox 26"/>
          <p:cNvSpPr txBox="1"/>
          <p:nvPr/>
        </p:nvSpPr>
        <p:spPr>
          <a:xfrm>
            <a:off x="5074920" y="4233672"/>
            <a:ext cx="2286000" cy="274320"/>
          </a:xfrm>
          <a:prstGeom prst="rect">
            <a:avLst/>
          </a:prstGeom>
          <a:noFill/>
        </p:spPr>
        <p:txBody>
          <a:bodyPr wrap="square">
            <a:spAutoFit/>
          </a:bodyPr>
          <a:lstStyle/>
          <a:p>
            <a:pPr algn="l">
              <a:defRPr sz="1400" b="1">
                <a:solidFill>
                  <a:srgbClr val="1A1A1A"/>
                </a:solidFill>
                <a:latin typeface="Calibri"/>
              </a:defRPr>
            </a:pPr>
            <a:r>
              <a:t>Norah</a:t>
            </a:r>
          </a:p>
        </p:txBody>
      </p:sp>
      <p:sp>
        <p:nvSpPr>
          <p:cNvPr id="28" name="TextBox 27"/>
          <p:cNvSpPr txBox="1"/>
          <p:nvPr/>
        </p:nvSpPr>
        <p:spPr>
          <a:xfrm>
            <a:off x="5074920" y="4480560"/>
            <a:ext cx="2286000" cy="228600"/>
          </a:xfrm>
          <a:prstGeom prst="rect">
            <a:avLst/>
          </a:prstGeom>
          <a:noFill/>
        </p:spPr>
        <p:txBody>
          <a:bodyPr wrap="square">
            <a:spAutoFit/>
          </a:bodyPr>
          <a:lstStyle/>
          <a:p>
            <a:pPr algn="l">
              <a:defRPr sz="1100" b="0">
                <a:solidFill>
                  <a:srgbClr val="9CA3AF"/>
                </a:solidFill>
                <a:latin typeface="Calibri"/>
              </a:defRPr>
            </a:pPr>
            <a:r>
              <a:t>Finance &amp; Analytics</a:t>
            </a:r>
          </a:p>
        </p:txBody>
      </p:sp>
      <p:sp>
        <p:nvSpPr>
          <p:cNvPr id="29" name="TextBox 28"/>
          <p:cNvSpPr txBox="1"/>
          <p:nvPr/>
        </p:nvSpPr>
        <p:spPr>
          <a:xfrm>
            <a:off x="4526280" y="4846320"/>
            <a:ext cx="3017520" cy="914400"/>
          </a:xfrm>
          <a:prstGeom prst="rect">
            <a:avLst/>
          </a:prstGeom>
          <a:noFill/>
        </p:spPr>
        <p:txBody>
          <a:bodyPr wrap="square">
            <a:spAutoFit/>
          </a:bodyPr>
          <a:lstStyle/>
          <a:p>
            <a:pPr algn="l">
              <a:defRPr sz="1200" b="0">
                <a:solidFill>
                  <a:srgbClr val="6B7280"/>
                </a:solidFill>
                <a:latin typeface="Calibri"/>
              </a:defRPr>
            </a:pPr>
            <a:r>
              <a:t>Tracks headcount budgets, forecasts workforce costs, flags overspending, benchmarks compensation.</a:t>
            </a:r>
          </a:p>
        </p:txBody>
      </p:sp>
      <p:sp>
        <p:nvSpPr>
          <p:cNvPr id="30" name="Rounded Rectangle 29"/>
          <p:cNvSpPr/>
          <p:nvPr/>
        </p:nvSpPr>
        <p:spPr>
          <a:xfrm>
            <a:off x="7955280" y="4069080"/>
            <a:ext cx="3383280" cy="182880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138160" y="4251960"/>
            <a:ext cx="411480" cy="411480"/>
          </a:xfrm>
          <a:prstGeom prst="ellipse">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600" b="1">
                <a:solidFill>
                  <a:srgbClr val="7C3AED"/>
                </a:solidFill>
                <a:latin typeface="Calibri"/>
              </a:defRPr>
            </a:pPr>
            <a:r>
              <a:t>S</a:t>
            </a:r>
          </a:p>
        </p:txBody>
      </p:sp>
      <p:sp>
        <p:nvSpPr>
          <p:cNvPr id="32" name="TextBox 31"/>
          <p:cNvSpPr txBox="1"/>
          <p:nvPr/>
        </p:nvSpPr>
        <p:spPr>
          <a:xfrm>
            <a:off x="8686800" y="4233672"/>
            <a:ext cx="2286000" cy="274320"/>
          </a:xfrm>
          <a:prstGeom prst="rect">
            <a:avLst/>
          </a:prstGeom>
          <a:noFill/>
        </p:spPr>
        <p:txBody>
          <a:bodyPr wrap="square">
            <a:spAutoFit/>
          </a:bodyPr>
          <a:lstStyle/>
          <a:p>
            <a:pPr algn="l">
              <a:defRPr sz="1400" b="1">
                <a:solidFill>
                  <a:srgbClr val="1A1A1A"/>
                </a:solidFill>
                <a:latin typeface="Calibri"/>
              </a:defRPr>
            </a:pPr>
            <a:r>
              <a:t>Sarah</a:t>
            </a:r>
          </a:p>
        </p:txBody>
      </p:sp>
      <p:sp>
        <p:nvSpPr>
          <p:cNvPr id="33" name="TextBox 32"/>
          <p:cNvSpPr txBox="1"/>
          <p:nvPr/>
        </p:nvSpPr>
        <p:spPr>
          <a:xfrm>
            <a:off x="8686800" y="4480560"/>
            <a:ext cx="2286000" cy="228600"/>
          </a:xfrm>
          <a:prstGeom prst="rect">
            <a:avLst/>
          </a:prstGeom>
          <a:noFill/>
        </p:spPr>
        <p:txBody>
          <a:bodyPr wrap="square">
            <a:spAutoFit/>
          </a:bodyPr>
          <a:lstStyle/>
          <a:p>
            <a:pPr algn="l">
              <a:defRPr sz="1100" b="0">
                <a:solidFill>
                  <a:srgbClr val="9CA3AF"/>
                </a:solidFill>
                <a:latin typeface="Calibri"/>
              </a:defRPr>
            </a:pPr>
            <a:r>
              <a:t>Agent Factory</a:t>
            </a:r>
          </a:p>
        </p:txBody>
      </p:sp>
      <p:sp>
        <p:nvSpPr>
          <p:cNvPr id="34" name="TextBox 33"/>
          <p:cNvSpPr txBox="1"/>
          <p:nvPr/>
        </p:nvSpPr>
        <p:spPr>
          <a:xfrm>
            <a:off x="8138160" y="4846320"/>
            <a:ext cx="3017520" cy="914400"/>
          </a:xfrm>
          <a:prstGeom prst="rect">
            <a:avLst/>
          </a:prstGeom>
          <a:noFill/>
        </p:spPr>
        <p:txBody>
          <a:bodyPr wrap="square">
            <a:spAutoFit/>
          </a:bodyPr>
          <a:lstStyle/>
          <a:p>
            <a:pPr algn="l">
              <a:defRPr sz="1200" b="0">
                <a:solidFill>
                  <a:srgbClr val="6B7280"/>
                </a:solidFill>
                <a:latin typeface="Calibri"/>
              </a:defRPr>
            </a:pPr>
            <a:r>
              <a:t>Analyzes any job description and tells you: human or virtual employee? Our secret weapon.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731520" y="365760"/>
            <a:ext cx="3657600" cy="365760"/>
          </a:xfrm>
          <a:prstGeom prst="rect">
            <a:avLst/>
          </a:prstGeom>
          <a:noFill/>
        </p:spPr>
        <p:txBody>
          <a:bodyPr wrap="square">
            <a:spAutoFit/>
          </a:bodyPr>
          <a:lstStyle/>
          <a:p>
            <a:pPr algn="l">
              <a:defRPr sz="1100" b="1">
                <a:solidFill>
                  <a:srgbClr val="4F46E5"/>
                </a:solidFill>
                <a:latin typeface="Calibri"/>
              </a:defRPr>
            </a:pPr>
            <a:r>
              <a:t>PRODUCT</a:t>
            </a:r>
          </a:p>
        </p:txBody>
      </p:sp>
      <p:sp>
        <p:nvSpPr>
          <p:cNvPr id="3" name="TextBox 2"/>
          <p:cNvSpPr txBox="1"/>
          <p:nvPr/>
        </p:nvSpPr>
        <p:spPr>
          <a:xfrm>
            <a:off x="731520" y="731520"/>
            <a:ext cx="9144000" cy="731520"/>
          </a:xfrm>
          <a:prstGeom prst="rect">
            <a:avLst/>
          </a:prstGeom>
          <a:noFill/>
        </p:spPr>
        <p:txBody>
          <a:bodyPr wrap="square">
            <a:spAutoFit/>
          </a:bodyPr>
          <a:lstStyle/>
          <a:p>
            <a:pPr algn="l">
              <a:defRPr sz="3600" b="1">
                <a:solidFill>
                  <a:srgbClr val="1A1A1A"/>
                </a:solidFill>
                <a:latin typeface="Calibri"/>
              </a:defRPr>
            </a:pPr>
            <a:r>
              <a:t>See Krew in action</a:t>
            </a:r>
          </a:p>
        </p:txBody>
      </p:sp>
      <p:sp>
        <p:nvSpPr>
          <p:cNvPr id="4" name="TextBox 3"/>
          <p:cNvSpPr txBox="1"/>
          <p:nvPr/>
        </p:nvSpPr>
        <p:spPr>
          <a:xfrm>
            <a:off x="731520" y="1280160"/>
            <a:ext cx="8229600" cy="548640"/>
          </a:xfrm>
          <a:prstGeom prst="rect">
            <a:avLst/>
          </a:prstGeom>
          <a:noFill/>
        </p:spPr>
        <p:txBody>
          <a:bodyPr wrap="square">
            <a:spAutoFit/>
          </a:bodyPr>
          <a:lstStyle/>
          <a:p>
            <a:pPr algn="l">
              <a:defRPr sz="1600" b="0">
                <a:solidFill>
                  <a:srgbClr val="6B7280"/>
                </a:solidFill>
                <a:latin typeface="Calibri"/>
              </a:defRPr>
            </a:pPr>
            <a:r>
              <a:t>Employees interact with named virtual colleagues through channels they already use.</a:t>
            </a:r>
          </a:p>
        </p:txBody>
      </p:sp>
      <p:sp>
        <p:nvSpPr>
          <p:cNvPr id="5" name="Rounded Rectangle 4"/>
          <p:cNvSpPr/>
          <p:nvPr/>
        </p:nvSpPr>
        <p:spPr>
          <a:xfrm>
            <a:off x="1371600" y="1920240"/>
            <a:ext cx="9418320" cy="420624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1920240"/>
            <a:ext cx="9418320" cy="457200"/>
          </a:xfrm>
          <a:prstGeom prst="roundRect">
            <a:avLst>
              <a:gd name="adj" fmla="val 5000"/>
            </a:avLst>
          </a:prstGeom>
          <a:solidFill>
            <a:srgbClr val="F5F5F4"/>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1965960"/>
            <a:ext cx="9418320" cy="365760"/>
          </a:xfrm>
          <a:prstGeom prst="rect">
            <a:avLst/>
          </a:prstGeom>
          <a:noFill/>
        </p:spPr>
        <p:txBody>
          <a:bodyPr wrap="square">
            <a:spAutoFit/>
          </a:bodyPr>
          <a:lstStyle/>
          <a:p>
            <a:pPr algn="ctr">
              <a:defRPr sz="1100" b="0">
                <a:solidFill>
                  <a:srgbClr val="9CA3AF"/>
                </a:solidFill>
                <a:latin typeface="Calibri"/>
              </a:defRPr>
            </a:pPr>
            <a:r>
              <a:t>Krew — Employee Portal</a:t>
            </a:r>
          </a:p>
        </p:txBody>
      </p:sp>
      <p:sp>
        <p:nvSpPr>
          <p:cNvPr id="8" name="Rounded Rectangle 7"/>
          <p:cNvSpPr/>
          <p:nvPr/>
        </p:nvSpPr>
        <p:spPr>
          <a:xfrm>
            <a:off x="1371600" y="2377440"/>
            <a:ext cx="2011680" cy="3749039"/>
          </a:xfrm>
          <a:prstGeom prst="roundRect">
            <a:avLst>
              <a:gd name="adj" fmla="val 5000"/>
            </a:avLst>
          </a:prstGeom>
          <a:solidFill>
            <a:srgbClr val="F5F5F4"/>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54480" y="2468880"/>
            <a:ext cx="1645920" cy="274320"/>
          </a:xfrm>
          <a:prstGeom prst="rect">
            <a:avLst/>
          </a:prstGeom>
          <a:noFill/>
        </p:spPr>
        <p:txBody>
          <a:bodyPr wrap="square">
            <a:spAutoFit/>
          </a:bodyPr>
          <a:lstStyle/>
          <a:p>
            <a:pPr algn="l">
              <a:defRPr sz="900" b="1">
                <a:solidFill>
                  <a:srgbClr val="9CA3AF"/>
                </a:solidFill>
                <a:latin typeface="Calibri"/>
              </a:defRPr>
            </a:pPr>
            <a:r>
              <a:t>YOUR KREW</a:t>
            </a:r>
          </a:p>
        </p:txBody>
      </p:sp>
      <p:sp>
        <p:nvSpPr>
          <p:cNvPr id="10" name="Oval 9"/>
          <p:cNvSpPr/>
          <p:nvPr/>
        </p:nvSpPr>
        <p:spPr>
          <a:xfrm>
            <a:off x="1554480" y="2788920"/>
            <a:ext cx="292608" cy="292608"/>
          </a:xfrm>
          <a:prstGeom prst="ellipse">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400" b="1">
                <a:solidFill>
                  <a:srgbClr val="4F46E5"/>
                </a:solidFill>
                <a:latin typeface="Calibri"/>
              </a:defRPr>
            </a:pPr>
            <a:r>
              <a:t>D</a:t>
            </a:r>
          </a:p>
        </p:txBody>
      </p:sp>
      <p:sp>
        <p:nvSpPr>
          <p:cNvPr id="11" name="TextBox 10"/>
          <p:cNvSpPr txBox="1"/>
          <p:nvPr/>
        </p:nvSpPr>
        <p:spPr>
          <a:xfrm>
            <a:off x="1920240" y="2807208"/>
            <a:ext cx="1188720" cy="274320"/>
          </a:xfrm>
          <a:prstGeom prst="rect">
            <a:avLst/>
          </a:prstGeom>
          <a:noFill/>
        </p:spPr>
        <p:txBody>
          <a:bodyPr wrap="square">
            <a:spAutoFit/>
          </a:bodyPr>
          <a:lstStyle/>
          <a:p>
            <a:pPr algn="l">
              <a:defRPr sz="1200" b="1">
                <a:solidFill>
                  <a:srgbClr val="4F46E5"/>
                </a:solidFill>
                <a:latin typeface="Calibri"/>
              </a:defRPr>
            </a:pPr>
            <a:r>
              <a:t>Deema</a:t>
            </a:r>
          </a:p>
        </p:txBody>
      </p:sp>
      <p:sp>
        <p:nvSpPr>
          <p:cNvPr id="12" name="Oval 11"/>
          <p:cNvSpPr/>
          <p:nvPr/>
        </p:nvSpPr>
        <p:spPr>
          <a:xfrm>
            <a:off x="1554480" y="3264408"/>
            <a:ext cx="292608" cy="292608"/>
          </a:xfrm>
          <a:prstGeom prst="ellipse">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400" b="1">
                <a:solidFill>
                  <a:srgbClr val="2563EB"/>
                </a:solidFill>
                <a:latin typeface="Calibri"/>
              </a:defRPr>
            </a:pPr>
            <a:r>
              <a:t>W</a:t>
            </a:r>
          </a:p>
        </p:txBody>
      </p:sp>
      <p:sp>
        <p:nvSpPr>
          <p:cNvPr id="13" name="TextBox 12"/>
          <p:cNvSpPr txBox="1"/>
          <p:nvPr/>
        </p:nvSpPr>
        <p:spPr>
          <a:xfrm>
            <a:off x="1920240" y="3282696"/>
            <a:ext cx="1188720" cy="274320"/>
          </a:xfrm>
          <a:prstGeom prst="rect">
            <a:avLst/>
          </a:prstGeom>
          <a:noFill/>
        </p:spPr>
        <p:txBody>
          <a:bodyPr wrap="square">
            <a:spAutoFit/>
          </a:bodyPr>
          <a:lstStyle/>
          <a:p>
            <a:pPr algn="l">
              <a:defRPr sz="1200" b="0">
                <a:solidFill>
                  <a:srgbClr val="6B7280"/>
                </a:solidFill>
                <a:latin typeface="Calibri"/>
              </a:defRPr>
            </a:pPr>
            <a:r>
              <a:t>Waleed</a:t>
            </a:r>
          </a:p>
        </p:txBody>
      </p:sp>
      <p:sp>
        <p:nvSpPr>
          <p:cNvPr id="14" name="Oval 13"/>
          <p:cNvSpPr/>
          <p:nvPr/>
        </p:nvSpPr>
        <p:spPr>
          <a:xfrm>
            <a:off x="1554480" y="3739896"/>
            <a:ext cx="292608" cy="292608"/>
          </a:xfrm>
          <a:prstGeom prst="ellipse">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400" b="1">
                <a:solidFill>
                  <a:srgbClr val="16A34A"/>
                </a:solidFill>
                <a:latin typeface="Calibri"/>
              </a:defRPr>
            </a:pPr>
            <a:r>
              <a:t>M</a:t>
            </a:r>
          </a:p>
        </p:txBody>
      </p:sp>
      <p:sp>
        <p:nvSpPr>
          <p:cNvPr id="15" name="TextBox 14"/>
          <p:cNvSpPr txBox="1"/>
          <p:nvPr/>
        </p:nvSpPr>
        <p:spPr>
          <a:xfrm>
            <a:off x="1920240" y="3758184"/>
            <a:ext cx="1188720" cy="274320"/>
          </a:xfrm>
          <a:prstGeom prst="rect">
            <a:avLst/>
          </a:prstGeom>
          <a:noFill/>
        </p:spPr>
        <p:txBody>
          <a:bodyPr wrap="square">
            <a:spAutoFit/>
          </a:bodyPr>
          <a:lstStyle/>
          <a:p>
            <a:pPr algn="l">
              <a:defRPr sz="1200" b="0">
                <a:solidFill>
                  <a:srgbClr val="6B7280"/>
                </a:solidFill>
                <a:latin typeface="Calibri"/>
              </a:defRPr>
            </a:pPr>
            <a:r>
              <a:t>Mohammad</a:t>
            </a:r>
          </a:p>
        </p:txBody>
      </p:sp>
      <p:sp>
        <p:nvSpPr>
          <p:cNvPr id="16" name="Oval 15"/>
          <p:cNvSpPr/>
          <p:nvPr/>
        </p:nvSpPr>
        <p:spPr>
          <a:xfrm>
            <a:off x="1554480" y="4215384"/>
            <a:ext cx="292608" cy="292608"/>
          </a:xfrm>
          <a:prstGeom prst="ellipse">
            <a:avLst/>
          </a:prstGeom>
          <a:solidFill>
            <a:srgbClr val="FCE7F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400" b="1">
                <a:solidFill>
                  <a:srgbClr val="DB2777"/>
                </a:solidFill>
                <a:latin typeface="Calibri"/>
              </a:defRPr>
            </a:pPr>
            <a:r>
              <a:t>Y</a:t>
            </a:r>
          </a:p>
        </p:txBody>
      </p:sp>
      <p:sp>
        <p:nvSpPr>
          <p:cNvPr id="17" name="TextBox 16"/>
          <p:cNvSpPr txBox="1"/>
          <p:nvPr/>
        </p:nvSpPr>
        <p:spPr>
          <a:xfrm>
            <a:off x="1920240" y="4233672"/>
            <a:ext cx="1188720" cy="274320"/>
          </a:xfrm>
          <a:prstGeom prst="rect">
            <a:avLst/>
          </a:prstGeom>
          <a:noFill/>
        </p:spPr>
        <p:txBody>
          <a:bodyPr wrap="square">
            <a:spAutoFit/>
          </a:bodyPr>
          <a:lstStyle/>
          <a:p>
            <a:pPr algn="l">
              <a:defRPr sz="1200" b="0">
                <a:solidFill>
                  <a:srgbClr val="6B7280"/>
                </a:solidFill>
                <a:latin typeface="Calibri"/>
              </a:defRPr>
            </a:pPr>
            <a:r>
              <a:t>Yara</a:t>
            </a:r>
          </a:p>
        </p:txBody>
      </p:sp>
      <p:sp>
        <p:nvSpPr>
          <p:cNvPr id="18" name="Oval 17"/>
          <p:cNvSpPr/>
          <p:nvPr/>
        </p:nvSpPr>
        <p:spPr>
          <a:xfrm>
            <a:off x="1554480" y="4690872"/>
            <a:ext cx="292608" cy="292608"/>
          </a:xfrm>
          <a:prstGeom prst="ellipse">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400" b="1">
                <a:solidFill>
                  <a:srgbClr val="EA580C"/>
                </a:solidFill>
                <a:latin typeface="Calibri"/>
              </a:defRPr>
            </a:pPr>
            <a:r>
              <a:t>N</a:t>
            </a:r>
          </a:p>
        </p:txBody>
      </p:sp>
      <p:sp>
        <p:nvSpPr>
          <p:cNvPr id="19" name="TextBox 18"/>
          <p:cNvSpPr txBox="1"/>
          <p:nvPr/>
        </p:nvSpPr>
        <p:spPr>
          <a:xfrm>
            <a:off x="1920240" y="4709160"/>
            <a:ext cx="1188720" cy="274320"/>
          </a:xfrm>
          <a:prstGeom prst="rect">
            <a:avLst/>
          </a:prstGeom>
          <a:noFill/>
        </p:spPr>
        <p:txBody>
          <a:bodyPr wrap="square">
            <a:spAutoFit/>
          </a:bodyPr>
          <a:lstStyle/>
          <a:p>
            <a:pPr algn="l">
              <a:defRPr sz="1200" b="0">
                <a:solidFill>
                  <a:srgbClr val="6B7280"/>
                </a:solidFill>
                <a:latin typeface="Calibri"/>
              </a:defRPr>
            </a:pPr>
            <a:r>
              <a:t>Norah</a:t>
            </a:r>
          </a:p>
        </p:txBody>
      </p:sp>
      <p:sp>
        <p:nvSpPr>
          <p:cNvPr id="20" name="Oval 19"/>
          <p:cNvSpPr/>
          <p:nvPr/>
        </p:nvSpPr>
        <p:spPr>
          <a:xfrm>
            <a:off x="1554480" y="5166360"/>
            <a:ext cx="292608" cy="292608"/>
          </a:xfrm>
          <a:prstGeom prst="ellipse">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400" b="1">
                <a:solidFill>
                  <a:srgbClr val="7C3AED"/>
                </a:solidFill>
                <a:latin typeface="Calibri"/>
              </a:defRPr>
            </a:pPr>
            <a:r>
              <a:t>S</a:t>
            </a:r>
          </a:p>
        </p:txBody>
      </p:sp>
      <p:sp>
        <p:nvSpPr>
          <p:cNvPr id="21" name="TextBox 20"/>
          <p:cNvSpPr txBox="1"/>
          <p:nvPr/>
        </p:nvSpPr>
        <p:spPr>
          <a:xfrm>
            <a:off x="1920240" y="5184648"/>
            <a:ext cx="1188720" cy="274320"/>
          </a:xfrm>
          <a:prstGeom prst="rect">
            <a:avLst/>
          </a:prstGeom>
          <a:noFill/>
        </p:spPr>
        <p:txBody>
          <a:bodyPr wrap="square">
            <a:spAutoFit/>
          </a:bodyPr>
          <a:lstStyle/>
          <a:p>
            <a:pPr algn="l">
              <a:defRPr sz="1200" b="0">
                <a:solidFill>
                  <a:srgbClr val="6B7280"/>
                </a:solidFill>
                <a:latin typeface="Calibri"/>
              </a:defRPr>
            </a:pPr>
            <a:r>
              <a:t>Sarah</a:t>
            </a:r>
          </a:p>
        </p:txBody>
      </p:sp>
      <p:sp>
        <p:nvSpPr>
          <p:cNvPr id="22" name="Rounded Rectangle 21"/>
          <p:cNvSpPr/>
          <p:nvPr/>
        </p:nvSpPr>
        <p:spPr>
          <a:xfrm>
            <a:off x="6858000" y="2560320"/>
            <a:ext cx="3657600" cy="502920"/>
          </a:xfrm>
          <a:prstGeom prst="roundRect">
            <a:avLst>
              <a:gd name="adj" fmla="val 5000"/>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0" y="2606040"/>
            <a:ext cx="3291840" cy="365760"/>
          </a:xfrm>
          <a:prstGeom prst="rect">
            <a:avLst/>
          </a:prstGeom>
          <a:noFill/>
        </p:spPr>
        <p:txBody>
          <a:bodyPr wrap="square">
            <a:spAutoFit/>
          </a:bodyPr>
          <a:lstStyle/>
          <a:p>
            <a:pPr algn="l">
              <a:defRPr sz="1200" b="0">
                <a:solidFill>
                  <a:srgbClr val="FFFFFF"/>
                </a:solidFill>
                <a:latin typeface="Calibri"/>
              </a:defRPr>
            </a:pPr>
            <a:r>
              <a:t>How many vacation days do I have left?</a:t>
            </a:r>
          </a:p>
        </p:txBody>
      </p:sp>
      <p:sp>
        <p:nvSpPr>
          <p:cNvPr id="24" name="Rounded Rectangle 23"/>
          <p:cNvSpPr/>
          <p:nvPr/>
        </p:nvSpPr>
        <p:spPr>
          <a:xfrm>
            <a:off x="3657600" y="3200400"/>
            <a:ext cx="5486400" cy="1188720"/>
          </a:xfrm>
          <a:prstGeom prst="roundRect">
            <a:avLst>
              <a:gd name="adj" fmla="val 5000"/>
            </a:avLst>
          </a:prstGeom>
          <a:solidFill>
            <a:srgbClr val="F5F5F4"/>
          </a:solidFill>
          <a:ln w="12700">
            <a:solidFill>
              <a:srgbClr val="F5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0" y="3246120"/>
            <a:ext cx="1828800" cy="228600"/>
          </a:xfrm>
          <a:prstGeom prst="rect">
            <a:avLst/>
          </a:prstGeom>
          <a:noFill/>
        </p:spPr>
        <p:txBody>
          <a:bodyPr wrap="square">
            <a:spAutoFit/>
          </a:bodyPr>
          <a:lstStyle/>
          <a:p>
            <a:pPr algn="l">
              <a:defRPr sz="900" b="1">
                <a:solidFill>
                  <a:srgbClr val="4F46E5"/>
                </a:solidFill>
                <a:latin typeface="Calibri"/>
              </a:defRPr>
            </a:pPr>
            <a:r>
              <a:t>Deema · Employee Services</a:t>
            </a:r>
          </a:p>
        </p:txBody>
      </p:sp>
      <p:sp>
        <p:nvSpPr>
          <p:cNvPr id="26" name="TextBox 25"/>
          <p:cNvSpPr txBox="1"/>
          <p:nvPr/>
        </p:nvSpPr>
        <p:spPr>
          <a:xfrm>
            <a:off x="3840480" y="3474720"/>
            <a:ext cx="5029200" cy="822960"/>
          </a:xfrm>
          <a:prstGeom prst="rect">
            <a:avLst/>
          </a:prstGeom>
          <a:noFill/>
        </p:spPr>
        <p:txBody>
          <a:bodyPr wrap="square">
            <a:spAutoFit/>
          </a:bodyPr>
          <a:lstStyle/>
          <a:p>
            <a:pPr algn="l">
              <a:defRPr sz="1100" b="0">
                <a:solidFill>
                  <a:srgbClr val="1A1A1A"/>
                </a:solidFill>
                <a:latin typeface="Calibri"/>
              </a:defRPr>
            </a:pPr>
            <a:r>
              <a:t>You have 14 days of annual leave remaining out of 21 days for 2026.</a:t>
            </a:r>
            <a:br/>
            <a:r>
              <a:t>You've used 5 days in January and 2 days in February.</a:t>
            </a:r>
            <a:br/>
            <a:br/>
            <a:r>
              <a:t>Would you like to submit a leave request?</a:t>
            </a:r>
          </a:p>
        </p:txBody>
      </p:sp>
      <p:sp>
        <p:nvSpPr>
          <p:cNvPr id="27" name="Rounded Rectangle 26"/>
          <p:cNvSpPr/>
          <p:nvPr/>
        </p:nvSpPr>
        <p:spPr>
          <a:xfrm>
            <a:off x="6858000" y="4572000"/>
            <a:ext cx="3657600" cy="457200"/>
          </a:xfrm>
          <a:prstGeom prst="roundRect">
            <a:avLst>
              <a:gd name="adj" fmla="val 5000"/>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0" y="4617720"/>
            <a:ext cx="3291840" cy="365760"/>
          </a:xfrm>
          <a:prstGeom prst="rect">
            <a:avLst/>
          </a:prstGeom>
          <a:noFill/>
        </p:spPr>
        <p:txBody>
          <a:bodyPr wrap="square">
            <a:spAutoFit/>
          </a:bodyPr>
          <a:lstStyle/>
          <a:p>
            <a:pPr algn="l">
              <a:defRPr sz="1200" b="0">
                <a:solidFill>
                  <a:srgbClr val="FFFFFF"/>
                </a:solidFill>
                <a:latin typeface="Calibri"/>
              </a:defRPr>
            </a:pPr>
            <a:r>
              <a:t>Yes, I'd like to take March 15-19 off</a:t>
            </a:r>
          </a:p>
        </p:txBody>
      </p:sp>
      <p:sp>
        <p:nvSpPr>
          <p:cNvPr id="29" name="Rounded Rectangle 28"/>
          <p:cNvSpPr/>
          <p:nvPr/>
        </p:nvSpPr>
        <p:spPr>
          <a:xfrm>
            <a:off x="3657600" y="5166360"/>
            <a:ext cx="5486400" cy="868680"/>
          </a:xfrm>
          <a:prstGeom prst="roundRect">
            <a:avLst>
              <a:gd name="adj" fmla="val 5000"/>
            </a:avLst>
          </a:prstGeom>
          <a:solidFill>
            <a:srgbClr val="F5F5F4"/>
          </a:solidFill>
          <a:ln w="12700">
            <a:solidFill>
              <a:srgbClr val="F5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0" y="5212080"/>
            <a:ext cx="1828800" cy="228600"/>
          </a:xfrm>
          <a:prstGeom prst="rect">
            <a:avLst/>
          </a:prstGeom>
          <a:noFill/>
        </p:spPr>
        <p:txBody>
          <a:bodyPr wrap="square">
            <a:spAutoFit/>
          </a:bodyPr>
          <a:lstStyle/>
          <a:p>
            <a:pPr algn="l">
              <a:defRPr sz="900" b="1">
                <a:solidFill>
                  <a:srgbClr val="16A34A"/>
                </a:solidFill>
                <a:latin typeface="Calibri"/>
              </a:defRPr>
            </a:pPr>
            <a:r>
              <a:t>Leave Request Submitted</a:t>
            </a:r>
          </a:p>
        </p:txBody>
      </p:sp>
      <p:sp>
        <p:nvSpPr>
          <p:cNvPr id="31" name="TextBox 30"/>
          <p:cNvSpPr txBox="1"/>
          <p:nvPr/>
        </p:nvSpPr>
        <p:spPr>
          <a:xfrm>
            <a:off x="3840480" y="5440680"/>
            <a:ext cx="5029200" cy="548640"/>
          </a:xfrm>
          <a:prstGeom prst="rect">
            <a:avLst/>
          </a:prstGeom>
          <a:noFill/>
        </p:spPr>
        <p:txBody>
          <a:bodyPr wrap="square">
            <a:spAutoFit/>
          </a:bodyPr>
          <a:lstStyle/>
          <a:p>
            <a:pPr algn="l">
              <a:defRPr sz="1100" b="0">
                <a:solidFill>
                  <a:srgbClr val="1A1A1A"/>
                </a:solidFill>
                <a:latin typeface="Calibri"/>
              </a:defRPr>
            </a:pPr>
            <a:r>
              <a:t>Done! I've submitted your leave request for Mar 15-19 (5 days).</a:t>
            </a:r>
            <a:br/>
            <a:r>
              <a:t>Your manager has been notified. You'll have 9 days remaining.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spAutoFit/>
          </a:bodyPr>
          <a:lstStyle/>
          <a:p>
            <a:pPr algn="l">
              <a:defRPr sz="1100" b="1">
                <a:solidFill>
                  <a:srgbClr val="4F46E5"/>
                </a:solidFill>
                <a:latin typeface="Calibri"/>
              </a:defRPr>
            </a:pPr>
            <a:r>
              <a:t>HOW IT WORKS</a:t>
            </a:r>
          </a:p>
        </p:txBody>
      </p:sp>
      <p:sp>
        <p:nvSpPr>
          <p:cNvPr id="3" name="TextBox 2"/>
          <p:cNvSpPr txBox="1"/>
          <p:nvPr/>
        </p:nvSpPr>
        <p:spPr>
          <a:xfrm>
            <a:off x="731520" y="822960"/>
            <a:ext cx="9144000" cy="731520"/>
          </a:xfrm>
          <a:prstGeom prst="rect">
            <a:avLst/>
          </a:prstGeom>
          <a:noFill/>
        </p:spPr>
        <p:txBody>
          <a:bodyPr wrap="square">
            <a:spAutoFit/>
          </a:bodyPr>
          <a:lstStyle/>
          <a:p>
            <a:pPr algn="l">
              <a:defRPr sz="3600" b="1">
                <a:solidFill>
                  <a:srgbClr val="1A1A1A"/>
                </a:solidFill>
                <a:latin typeface="Calibri"/>
              </a:defRPr>
            </a:pPr>
            <a:r>
              <a:t>Live in hours. Not months.</a:t>
            </a:r>
          </a:p>
        </p:txBody>
      </p:sp>
      <p:sp>
        <p:nvSpPr>
          <p:cNvPr id="4" name="TextBox 3"/>
          <p:cNvSpPr txBox="1"/>
          <p:nvPr/>
        </p:nvSpPr>
        <p:spPr>
          <a:xfrm>
            <a:off x="731520" y="1371600"/>
            <a:ext cx="8229600" cy="548640"/>
          </a:xfrm>
          <a:prstGeom prst="rect">
            <a:avLst/>
          </a:prstGeom>
          <a:noFill/>
        </p:spPr>
        <p:txBody>
          <a:bodyPr wrap="square">
            <a:spAutoFit/>
          </a:bodyPr>
          <a:lstStyle/>
          <a:p>
            <a:pPr algn="l">
              <a:defRPr sz="1600" b="0">
                <a:solidFill>
                  <a:srgbClr val="6B7280"/>
                </a:solidFill>
                <a:latin typeface="Calibri"/>
              </a:defRPr>
            </a:pPr>
            <a:r>
              <a:t>Five steps to deploy your AI HR department.</a:t>
            </a:r>
          </a:p>
        </p:txBody>
      </p:sp>
      <p:sp>
        <p:nvSpPr>
          <p:cNvPr id="5" name="Oval 4"/>
          <p:cNvSpPr/>
          <p:nvPr/>
        </p:nvSpPr>
        <p:spPr>
          <a:xfrm>
            <a:off x="1188720" y="228600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1</a:t>
            </a:r>
          </a:p>
        </p:txBody>
      </p:sp>
      <p:sp>
        <p:nvSpPr>
          <p:cNvPr id="6" name="Rectangle 5"/>
          <p:cNvSpPr/>
          <p:nvPr/>
        </p:nvSpPr>
        <p:spPr>
          <a:xfrm>
            <a:off x="1783080" y="2532888"/>
            <a:ext cx="1371600" cy="36576"/>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017520"/>
            <a:ext cx="2011680" cy="320040"/>
          </a:xfrm>
          <a:prstGeom prst="rect">
            <a:avLst/>
          </a:prstGeom>
          <a:noFill/>
        </p:spPr>
        <p:txBody>
          <a:bodyPr wrap="square">
            <a:spAutoFit/>
          </a:bodyPr>
          <a:lstStyle/>
          <a:p>
            <a:pPr algn="ctr">
              <a:defRPr sz="1500" b="1">
                <a:solidFill>
                  <a:srgbClr val="1A1A1A"/>
                </a:solidFill>
                <a:latin typeface="Calibri"/>
              </a:defRPr>
            </a:pPr>
            <a:r>
              <a:t>Sign Up</a:t>
            </a:r>
          </a:p>
        </p:txBody>
      </p:sp>
      <p:sp>
        <p:nvSpPr>
          <p:cNvPr id="8" name="TextBox 7"/>
          <p:cNvSpPr txBox="1"/>
          <p:nvPr/>
        </p:nvSpPr>
        <p:spPr>
          <a:xfrm>
            <a:off x="548640" y="3383280"/>
            <a:ext cx="2011680" cy="1097280"/>
          </a:xfrm>
          <a:prstGeom prst="rect">
            <a:avLst/>
          </a:prstGeom>
          <a:noFill/>
        </p:spPr>
        <p:txBody>
          <a:bodyPr wrap="square">
            <a:spAutoFit/>
          </a:bodyPr>
          <a:lstStyle/>
          <a:p>
            <a:pPr algn="ctr">
              <a:defRPr sz="1200" b="0">
                <a:solidFill>
                  <a:srgbClr val="6B7280"/>
                </a:solidFill>
                <a:latin typeface="Calibri"/>
              </a:defRPr>
            </a:pPr>
            <a:r>
              <a:t>Choose your plan and connect your channels — WhatsApp, Slack, Teams, or email.</a:t>
            </a:r>
          </a:p>
        </p:txBody>
      </p:sp>
      <p:sp>
        <p:nvSpPr>
          <p:cNvPr id="9" name="Oval 8"/>
          <p:cNvSpPr/>
          <p:nvPr/>
        </p:nvSpPr>
        <p:spPr>
          <a:xfrm>
            <a:off x="3474720" y="228600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2</a:t>
            </a:r>
          </a:p>
        </p:txBody>
      </p:sp>
      <p:sp>
        <p:nvSpPr>
          <p:cNvPr id="10" name="Rectangle 9"/>
          <p:cNvSpPr/>
          <p:nvPr/>
        </p:nvSpPr>
        <p:spPr>
          <a:xfrm>
            <a:off x="4069080" y="2532888"/>
            <a:ext cx="1371600" cy="36576"/>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0" y="3017520"/>
            <a:ext cx="2011680" cy="320040"/>
          </a:xfrm>
          <a:prstGeom prst="rect">
            <a:avLst/>
          </a:prstGeom>
          <a:noFill/>
        </p:spPr>
        <p:txBody>
          <a:bodyPr wrap="square">
            <a:spAutoFit/>
          </a:bodyPr>
          <a:lstStyle/>
          <a:p>
            <a:pPr algn="ctr">
              <a:defRPr sz="1500" b="1">
                <a:solidFill>
                  <a:srgbClr val="1A1A1A"/>
                </a:solidFill>
                <a:latin typeface="Calibri"/>
              </a:defRPr>
            </a:pPr>
            <a:r>
              <a:t>Upload Policies</a:t>
            </a:r>
          </a:p>
        </p:txBody>
      </p:sp>
      <p:sp>
        <p:nvSpPr>
          <p:cNvPr id="12" name="TextBox 11"/>
          <p:cNvSpPr txBox="1"/>
          <p:nvPr/>
        </p:nvSpPr>
        <p:spPr>
          <a:xfrm>
            <a:off x="2834640" y="3383280"/>
            <a:ext cx="2011680" cy="1097280"/>
          </a:xfrm>
          <a:prstGeom prst="rect">
            <a:avLst/>
          </a:prstGeom>
          <a:noFill/>
        </p:spPr>
        <p:txBody>
          <a:bodyPr wrap="square">
            <a:spAutoFit/>
          </a:bodyPr>
          <a:lstStyle/>
          <a:p>
            <a:pPr algn="ctr">
              <a:defRPr sz="1200" b="0">
                <a:solidFill>
                  <a:srgbClr val="6B7280"/>
                </a:solidFill>
                <a:latin typeface="Calibri"/>
              </a:defRPr>
            </a:pPr>
            <a:r>
              <a:t>Upload your HR policies and employee handbook. Or let our AI generate them.</a:t>
            </a:r>
          </a:p>
        </p:txBody>
      </p:sp>
      <p:sp>
        <p:nvSpPr>
          <p:cNvPr id="13" name="Oval 12"/>
          <p:cNvSpPr/>
          <p:nvPr/>
        </p:nvSpPr>
        <p:spPr>
          <a:xfrm>
            <a:off x="5760720" y="228600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3</a:t>
            </a:r>
          </a:p>
        </p:txBody>
      </p:sp>
      <p:sp>
        <p:nvSpPr>
          <p:cNvPr id="14" name="Rectangle 13"/>
          <p:cNvSpPr/>
          <p:nvPr/>
        </p:nvSpPr>
        <p:spPr>
          <a:xfrm>
            <a:off x="6355080" y="2532888"/>
            <a:ext cx="1371600" cy="36576"/>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0" y="3017520"/>
            <a:ext cx="2011680" cy="320040"/>
          </a:xfrm>
          <a:prstGeom prst="rect">
            <a:avLst/>
          </a:prstGeom>
          <a:noFill/>
        </p:spPr>
        <p:txBody>
          <a:bodyPr wrap="square">
            <a:spAutoFit/>
          </a:bodyPr>
          <a:lstStyle/>
          <a:p>
            <a:pPr algn="ctr">
              <a:defRPr sz="1500" b="1">
                <a:solidFill>
                  <a:srgbClr val="1A1A1A"/>
                </a:solidFill>
                <a:latin typeface="Calibri"/>
              </a:defRPr>
            </a:pPr>
            <a:r>
              <a:t>Krew Deploys</a:t>
            </a:r>
          </a:p>
        </p:txBody>
      </p:sp>
      <p:sp>
        <p:nvSpPr>
          <p:cNvPr id="16" name="TextBox 15"/>
          <p:cNvSpPr txBox="1"/>
          <p:nvPr/>
        </p:nvSpPr>
        <p:spPr>
          <a:xfrm>
            <a:off x="5120640" y="3383280"/>
            <a:ext cx="2011680" cy="1097280"/>
          </a:xfrm>
          <a:prstGeom prst="rect">
            <a:avLst/>
          </a:prstGeom>
          <a:noFill/>
        </p:spPr>
        <p:txBody>
          <a:bodyPr wrap="square">
            <a:spAutoFit/>
          </a:bodyPr>
          <a:lstStyle/>
          <a:p>
            <a:pPr algn="ctr">
              <a:defRPr sz="1200" b="0">
                <a:solidFill>
                  <a:srgbClr val="6B7280"/>
                </a:solidFill>
                <a:latin typeface="Calibri"/>
              </a:defRPr>
            </a:pPr>
            <a:r>
              <a:t>18 virtual employees go live instantly. They know your policies from day one.</a:t>
            </a:r>
          </a:p>
        </p:txBody>
      </p:sp>
      <p:sp>
        <p:nvSpPr>
          <p:cNvPr id="17" name="Oval 16"/>
          <p:cNvSpPr/>
          <p:nvPr/>
        </p:nvSpPr>
        <p:spPr>
          <a:xfrm>
            <a:off x="8046720" y="228600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4</a:t>
            </a:r>
          </a:p>
        </p:txBody>
      </p:sp>
      <p:sp>
        <p:nvSpPr>
          <p:cNvPr id="18" name="Rectangle 17"/>
          <p:cNvSpPr/>
          <p:nvPr/>
        </p:nvSpPr>
        <p:spPr>
          <a:xfrm>
            <a:off x="8641080" y="2532888"/>
            <a:ext cx="1371600" cy="36576"/>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3017520"/>
            <a:ext cx="2011680" cy="320040"/>
          </a:xfrm>
          <a:prstGeom prst="rect">
            <a:avLst/>
          </a:prstGeom>
          <a:noFill/>
        </p:spPr>
        <p:txBody>
          <a:bodyPr wrap="square">
            <a:spAutoFit/>
          </a:bodyPr>
          <a:lstStyle/>
          <a:p>
            <a:pPr algn="ctr">
              <a:defRPr sz="1500" b="1">
                <a:solidFill>
                  <a:srgbClr val="1A1A1A"/>
                </a:solidFill>
                <a:latin typeface="Calibri"/>
              </a:defRPr>
            </a:pPr>
            <a:r>
              <a:t>Employees Interact</a:t>
            </a:r>
          </a:p>
        </p:txBody>
      </p:sp>
      <p:sp>
        <p:nvSpPr>
          <p:cNvPr id="20" name="TextBox 19"/>
          <p:cNvSpPr txBox="1"/>
          <p:nvPr/>
        </p:nvSpPr>
        <p:spPr>
          <a:xfrm>
            <a:off x="7406640" y="3383280"/>
            <a:ext cx="2011680" cy="1097280"/>
          </a:xfrm>
          <a:prstGeom prst="rect">
            <a:avLst/>
          </a:prstGeom>
          <a:noFill/>
        </p:spPr>
        <p:txBody>
          <a:bodyPr wrap="square">
            <a:spAutoFit/>
          </a:bodyPr>
          <a:lstStyle/>
          <a:p>
            <a:pPr algn="ctr">
              <a:defRPr sz="1200" b="0">
                <a:solidFill>
                  <a:srgbClr val="6B7280"/>
                </a:solidFill>
                <a:latin typeface="Calibri"/>
              </a:defRPr>
            </a:pPr>
            <a:r>
              <a:t>Your team asks questions, requests leave, onboards — through channels they already use.</a:t>
            </a:r>
          </a:p>
        </p:txBody>
      </p:sp>
      <p:sp>
        <p:nvSpPr>
          <p:cNvPr id="21" name="Oval 20"/>
          <p:cNvSpPr/>
          <p:nvPr/>
        </p:nvSpPr>
        <p:spPr>
          <a:xfrm>
            <a:off x="10332720" y="228600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5</a:t>
            </a:r>
          </a:p>
        </p:txBody>
      </p:sp>
      <p:sp>
        <p:nvSpPr>
          <p:cNvPr id="22" name="TextBox 21"/>
          <p:cNvSpPr txBox="1"/>
          <p:nvPr/>
        </p:nvSpPr>
        <p:spPr>
          <a:xfrm>
            <a:off x="9692640" y="3017520"/>
            <a:ext cx="2011680" cy="320040"/>
          </a:xfrm>
          <a:prstGeom prst="rect">
            <a:avLst/>
          </a:prstGeom>
          <a:noFill/>
        </p:spPr>
        <p:txBody>
          <a:bodyPr wrap="square">
            <a:spAutoFit/>
          </a:bodyPr>
          <a:lstStyle/>
          <a:p>
            <a:pPr algn="ctr">
              <a:defRPr sz="1500" b="1">
                <a:solidFill>
                  <a:srgbClr val="1A1A1A"/>
                </a:solidFill>
                <a:latin typeface="Calibri"/>
              </a:defRPr>
            </a:pPr>
            <a:r>
              <a:t>You Oversee</a:t>
            </a:r>
          </a:p>
        </p:txBody>
      </p:sp>
      <p:sp>
        <p:nvSpPr>
          <p:cNvPr id="23" name="TextBox 22"/>
          <p:cNvSpPr txBox="1"/>
          <p:nvPr/>
        </p:nvSpPr>
        <p:spPr>
          <a:xfrm>
            <a:off x="9692640" y="3383280"/>
            <a:ext cx="2011680" cy="1097280"/>
          </a:xfrm>
          <a:prstGeom prst="rect">
            <a:avLst/>
          </a:prstGeom>
          <a:noFill/>
        </p:spPr>
        <p:txBody>
          <a:bodyPr wrap="square">
            <a:spAutoFit/>
          </a:bodyPr>
          <a:lstStyle/>
          <a:p>
            <a:pPr algn="ctr">
              <a:defRPr sz="1200" b="0">
                <a:solidFill>
                  <a:srgbClr val="6B7280"/>
                </a:solidFill>
                <a:latin typeface="Calibri"/>
              </a:defRPr>
            </a:pPr>
            <a:r>
              <a:t>The CHRO dashboard gives you real-time visibility into your entire HR operation.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731520" y="365760"/>
            <a:ext cx="3657600" cy="365760"/>
          </a:xfrm>
          <a:prstGeom prst="rect">
            <a:avLst/>
          </a:prstGeom>
          <a:noFill/>
        </p:spPr>
        <p:txBody>
          <a:bodyPr wrap="square">
            <a:spAutoFit/>
          </a:bodyPr>
          <a:lstStyle/>
          <a:p>
            <a:pPr algn="l">
              <a:defRPr sz="1100" b="1">
                <a:solidFill>
                  <a:srgbClr val="4F46E5"/>
                </a:solidFill>
                <a:latin typeface="Calibri"/>
              </a:defRPr>
            </a:pPr>
            <a:r>
              <a:t>MARKET OPPORTUNITY</a:t>
            </a:r>
          </a:p>
        </p:txBody>
      </p:sp>
      <p:sp>
        <p:nvSpPr>
          <p:cNvPr id="3" name="TextBox 2"/>
          <p:cNvSpPr txBox="1"/>
          <p:nvPr/>
        </p:nvSpPr>
        <p:spPr>
          <a:xfrm>
            <a:off x="731520" y="731520"/>
            <a:ext cx="9144000" cy="731520"/>
          </a:xfrm>
          <a:prstGeom prst="rect">
            <a:avLst/>
          </a:prstGeom>
          <a:noFill/>
        </p:spPr>
        <p:txBody>
          <a:bodyPr wrap="square">
            <a:spAutoFit/>
          </a:bodyPr>
          <a:lstStyle/>
          <a:p>
            <a:pPr algn="l">
              <a:defRPr sz="3600" b="1">
                <a:solidFill>
                  <a:srgbClr val="1A1A1A"/>
                </a:solidFill>
                <a:latin typeface="Calibri"/>
              </a:defRPr>
            </a:pPr>
            <a:r>
              <a:t>A massive and growing market</a:t>
            </a:r>
          </a:p>
        </p:txBody>
      </p:sp>
      <p:sp>
        <p:nvSpPr>
          <p:cNvPr id="4" name="TextBox 3"/>
          <p:cNvSpPr txBox="1"/>
          <p:nvPr/>
        </p:nvSpPr>
        <p:spPr>
          <a:xfrm>
            <a:off x="731520" y="1280160"/>
            <a:ext cx="8229600" cy="548640"/>
          </a:xfrm>
          <a:prstGeom prst="rect">
            <a:avLst/>
          </a:prstGeom>
          <a:noFill/>
        </p:spPr>
        <p:txBody>
          <a:bodyPr wrap="square">
            <a:spAutoFit/>
          </a:bodyPr>
          <a:lstStyle/>
          <a:p>
            <a:pPr algn="l">
              <a:defRPr sz="1600" b="0">
                <a:solidFill>
                  <a:srgbClr val="6B7280"/>
                </a:solidFill>
                <a:latin typeface="Calibri"/>
              </a:defRPr>
            </a:pPr>
            <a:r>
              <a:t>We sit at the intersection of HR software, HR outsourcing, and the AI agent economy.</a:t>
            </a:r>
          </a:p>
        </p:txBody>
      </p:sp>
      <p:sp>
        <p:nvSpPr>
          <p:cNvPr id="5" name="Oval 4"/>
          <p:cNvSpPr/>
          <p:nvPr/>
        </p:nvSpPr>
        <p:spPr>
          <a:xfrm>
            <a:off x="1371600" y="2011680"/>
            <a:ext cx="2560320" cy="2560320"/>
          </a:xfrm>
          <a:prstGeom prst="ellipse">
            <a:avLst/>
          </a:prstGeom>
          <a:solidFill>
            <a:srgbClr val="EDEDFB"/>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523744"/>
            <a:ext cx="2560320" cy="228600"/>
          </a:xfrm>
          <a:prstGeom prst="rect">
            <a:avLst/>
          </a:prstGeom>
          <a:noFill/>
        </p:spPr>
        <p:txBody>
          <a:bodyPr wrap="square">
            <a:spAutoFit/>
          </a:bodyPr>
          <a:lstStyle/>
          <a:p>
            <a:pPr algn="ctr">
              <a:defRPr sz="1100" b="1">
                <a:solidFill>
                  <a:srgbClr val="4F46E5"/>
                </a:solidFill>
                <a:latin typeface="Calibri"/>
              </a:defRPr>
            </a:pPr>
            <a:r>
              <a:t>TAM</a:t>
            </a:r>
          </a:p>
        </p:txBody>
      </p:sp>
      <p:sp>
        <p:nvSpPr>
          <p:cNvPr id="7" name="TextBox 6"/>
          <p:cNvSpPr txBox="1"/>
          <p:nvPr/>
        </p:nvSpPr>
        <p:spPr>
          <a:xfrm>
            <a:off x="1371600" y="2907792"/>
            <a:ext cx="2560320" cy="365760"/>
          </a:xfrm>
          <a:prstGeom prst="rect">
            <a:avLst/>
          </a:prstGeom>
          <a:noFill/>
        </p:spPr>
        <p:txBody>
          <a:bodyPr wrap="square">
            <a:spAutoFit/>
          </a:bodyPr>
          <a:lstStyle/>
          <a:p>
            <a:pPr algn="ctr">
              <a:defRPr sz="2400" b="1">
                <a:solidFill>
                  <a:srgbClr val="1A1A1A"/>
                </a:solidFill>
                <a:latin typeface="Calibri"/>
              </a:defRPr>
            </a:pPr>
            <a:r>
              <a:t>2T+ SAR</a:t>
            </a:r>
          </a:p>
        </p:txBody>
      </p:sp>
      <p:sp>
        <p:nvSpPr>
          <p:cNvPr id="8" name="TextBox 7"/>
          <p:cNvSpPr txBox="1"/>
          <p:nvPr/>
        </p:nvSpPr>
        <p:spPr>
          <a:xfrm>
            <a:off x="1554480" y="3547872"/>
            <a:ext cx="2194560" cy="548640"/>
          </a:xfrm>
          <a:prstGeom prst="rect">
            <a:avLst/>
          </a:prstGeom>
          <a:noFill/>
        </p:spPr>
        <p:txBody>
          <a:bodyPr wrap="square">
            <a:spAutoFit/>
          </a:bodyPr>
          <a:lstStyle/>
          <a:p>
            <a:pPr algn="ctr">
              <a:defRPr sz="1000" b="0">
                <a:solidFill>
                  <a:srgbClr val="6B7280"/>
                </a:solidFill>
                <a:latin typeface="Calibri"/>
              </a:defRPr>
            </a:pPr>
            <a:r>
              <a:t>Global HR software +</a:t>
            </a:r>
            <a:br/>
            <a:r>
              <a:t>outsourcing + PEO</a:t>
            </a:r>
          </a:p>
        </p:txBody>
      </p:sp>
      <p:sp>
        <p:nvSpPr>
          <p:cNvPr id="9" name="Oval 8"/>
          <p:cNvSpPr/>
          <p:nvPr/>
        </p:nvSpPr>
        <p:spPr>
          <a:xfrm>
            <a:off x="4572000" y="2011680"/>
            <a:ext cx="2011680" cy="2011680"/>
          </a:xfrm>
          <a:prstGeom prst="ellipse">
            <a:avLst/>
          </a:prstGeom>
          <a:solidFill>
            <a:srgbClr val="E4E3FA"/>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414016"/>
            <a:ext cx="2011680" cy="228600"/>
          </a:xfrm>
          <a:prstGeom prst="rect">
            <a:avLst/>
          </a:prstGeom>
          <a:noFill/>
        </p:spPr>
        <p:txBody>
          <a:bodyPr wrap="square">
            <a:spAutoFit/>
          </a:bodyPr>
          <a:lstStyle/>
          <a:p>
            <a:pPr algn="ctr">
              <a:defRPr sz="1100" b="1">
                <a:solidFill>
                  <a:srgbClr val="4F46E5"/>
                </a:solidFill>
                <a:latin typeface="Calibri"/>
              </a:defRPr>
            </a:pPr>
            <a:r>
              <a:t>SAM</a:t>
            </a:r>
          </a:p>
        </p:txBody>
      </p:sp>
      <p:sp>
        <p:nvSpPr>
          <p:cNvPr id="11" name="TextBox 10"/>
          <p:cNvSpPr txBox="1"/>
          <p:nvPr/>
        </p:nvSpPr>
        <p:spPr>
          <a:xfrm>
            <a:off x="4572000" y="2715768"/>
            <a:ext cx="2011680" cy="365760"/>
          </a:xfrm>
          <a:prstGeom prst="rect">
            <a:avLst/>
          </a:prstGeom>
          <a:noFill/>
        </p:spPr>
        <p:txBody>
          <a:bodyPr wrap="square">
            <a:spAutoFit/>
          </a:bodyPr>
          <a:lstStyle/>
          <a:p>
            <a:pPr algn="ctr">
              <a:defRPr sz="2400" b="1">
                <a:solidFill>
                  <a:srgbClr val="1A1A1A"/>
                </a:solidFill>
                <a:latin typeface="Calibri"/>
              </a:defRPr>
            </a:pPr>
            <a:r>
              <a:t>270B SAR</a:t>
            </a:r>
          </a:p>
        </p:txBody>
      </p:sp>
      <p:sp>
        <p:nvSpPr>
          <p:cNvPr id="12" name="TextBox 11"/>
          <p:cNvSpPr txBox="1"/>
          <p:nvPr/>
        </p:nvSpPr>
        <p:spPr>
          <a:xfrm>
            <a:off x="4754880" y="3218688"/>
            <a:ext cx="1645920" cy="548640"/>
          </a:xfrm>
          <a:prstGeom prst="rect">
            <a:avLst/>
          </a:prstGeom>
          <a:noFill/>
        </p:spPr>
        <p:txBody>
          <a:bodyPr wrap="square">
            <a:spAutoFit/>
          </a:bodyPr>
          <a:lstStyle/>
          <a:p>
            <a:pPr algn="ctr">
              <a:defRPr sz="1000" b="0">
                <a:solidFill>
                  <a:srgbClr val="6B7280"/>
                </a:solidFill>
                <a:latin typeface="Calibri"/>
              </a:defRPr>
            </a:pPr>
            <a:r>
              <a:t>English + GCC,</a:t>
            </a:r>
            <a:br/>
            <a:r>
              <a:t>10-5K employees</a:t>
            </a:r>
          </a:p>
        </p:txBody>
      </p:sp>
      <p:sp>
        <p:nvSpPr>
          <p:cNvPr id="13" name="Oval 12"/>
          <p:cNvSpPr/>
          <p:nvPr/>
        </p:nvSpPr>
        <p:spPr>
          <a:xfrm>
            <a:off x="7772400" y="2011680"/>
            <a:ext cx="1645920" cy="1645920"/>
          </a:xfrm>
          <a:prstGeom prst="ellipse">
            <a:avLst/>
          </a:prstGeom>
          <a:solidFill>
            <a:srgbClr val="DBD9F9"/>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2340864"/>
            <a:ext cx="1645920" cy="228600"/>
          </a:xfrm>
          <a:prstGeom prst="rect">
            <a:avLst/>
          </a:prstGeom>
          <a:noFill/>
        </p:spPr>
        <p:txBody>
          <a:bodyPr wrap="square">
            <a:spAutoFit/>
          </a:bodyPr>
          <a:lstStyle/>
          <a:p>
            <a:pPr algn="ctr">
              <a:defRPr sz="1100" b="1">
                <a:solidFill>
                  <a:srgbClr val="4F46E5"/>
                </a:solidFill>
                <a:latin typeface="Calibri"/>
              </a:defRPr>
            </a:pPr>
            <a:r>
              <a:t>SOM</a:t>
            </a:r>
          </a:p>
        </p:txBody>
      </p:sp>
      <p:sp>
        <p:nvSpPr>
          <p:cNvPr id="15" name="TextBox 14"/>
          <p:cNvSpPr txBox="1"/>
          <p:nvPr/>
        </p:nvSpPr>
        <p:spPr>
          <a:xfrm>
            <a:off x="7772400" y="2587752"/>
            <a:ext cx="1645920" cy="365760"/>
          </a:xfrm>
          <a:prstGeom prst="rect">
            <a:avLst/>
          </a:prstGeom>
          <a:noFill/>
        </p:spPr>
        <p:txBody>
          <a:bodyPr wrap="square">
            <a:spAutoFit/>
          </a:bodyPr>
          <a:lstStyle/>
          <a:p>
            <a:pPr algn="ctr">
              <a:defRPr sz="2400" b="1">
                <a:solidFill>
                  <a:srgbClr val="1A1A1A"/>
                </a:solidFill>
                <a:latin typeface="Calibri"/>
              </a:defRPr>
            </a:pPr>
            <a:r>
              <a:t>84M SAR</a:t>
            </a:r>
          </a:p>
        </p:txBody>
      </p:sp>
      <p:sp>
        <p:nvSpPr>
          <p:cNvPr id="16" name="TextBox 15"/>
          <p:cNvSpPr txBox="1"/>
          <p:nvPr/>
        </p:nvSpPr>
        <p:spPr>
          <a:xfrm>
            <a:off x="7955280" y="2999232"/>
            <a:ext cx="1280160" cy="548640"/>
          </a:xfrm>
          <a:prstGeom prst="rect">
            <a:avLst/>
          </a:prstGeom>
          <a:noFill/>
        </p:spPr>
        <p:txBody>
          <a:bodyPr wrap="square">
            <a:spAutoFit/>
          </a:bodyPr>
          <a:lstStyle/>
          <a:p>
            <a:pPr algn="ctr">
              <a:defRPr sz="1000" b="0">
                <a:solidFill>
                  <a:srgbClr val="6B7280"/>
                </a:solidFill>
                <a:latin typeface="Calibri"/>
              </a:defRPr>
            </a:pPr>
            <a:r>
              <a:t>500 companies</a:t>
            </a:r>
            <a:br/>
            <a:r>
              <a:t>by Year 3</a:t>
            </a:r>
          </a:p>
        </p:txBody>
      </p:sp>
      <p:sp>
        <p:nvSpPr>
          <p:cNvPr id="17" name="TextBox 16"/>
          <p:cNvSpPr txBox="1"/>
          <p:nvPr/>
        </p:nvSpPr>
        <p:spPr>
          <a:xfrm>
            <a:off x="0" y="4754880"/>
            <a:ext cx="12191695" cy="365760"/>
          </a:xfrm>
          <a:prstGeom prst="rect">
            <a:avLst/>
          </a:prstGeom>
          <a:noFill/>
        </p:spPr>
        <p:txBody>
          <a:bodyPr wrap="square">
            <a:spAutoFit/>
          </a:bodyPr>
          <a:lstStyle/>
          <a:p>
            <a:pPr algn="ctr">
              <a:defRPr sz="1400" b="0">
                <a:solidFill>
                  <a:srgbClr val="6B7280"/>
                </a:solidFill>
                <a:latin typeface="Calibri"/>
              </a:defRPr>
            </a:pPr>
            <a:r>
              <a:t>AI in HR market growing at 30-35% CAGR — the fastest-growing segment in HR tech.</a:t>
            </a:r>
          </a:p>
        </p:txBody>
      </p:sp>
      <p:sp>
        <p:nvSpPr>
          <p:cNvPr id="18" name="Rounded Rectangle 17"/>
          <p:cNvSpPr/>
          <p:nvPr/>
        </p:nvSpPr>
        <p:spPr>
          <a:xfrm>
            <a:off x="1371600" y="5303520"/>
            <a:ext cx="3017520" cy="109728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5440680"/>
            <a:ext cx="3017520" cy="457200"/>
          </a:xfrm>
          <a:prstGeom prst="rect">
            <a:avLst/>
          </a:prstGeom>
          <a:noFill/>
        </p:spPr>
        <p:txBody>
          <a:bodyPr wrap="square">
            <a:spAutoFit/>
          </a:bodyPr>
          <a:lstStyle/>
          <a:p>
            <a:pPr algn="ctr">
              <a:defRPr sz="2400" b="1">
                <a:solidFill>
                  <a:srgbClr val="4F46E5"/>
                </a:solidFill>
                <a:latin typeface="Calibri"/>
              </a:defRPr>
            </a:pPr>
            <a:r>
              <a:t>1.8M SAR</a:t>
            </a:r>
          </a:p>
        </p:txBody>
      </p:sp>
      <p:sp>
        <p:nvSpPr>
          <p:cNvPr id="20" name="TextBox 19"/>
          <p:cNvSpPr txBox="1"/>
          <p:nvPr/>
        </p:nvSpPr>
        <p:spPr>
          <a:xfrm>
            <a:off x="1371600" y="5897880"/>
            <a:ext cx="3017520" cy="274320"/>
          </a:xfrm>
          <a:prstGeom prst="rect">
            <a:avLst/>
          </a:prstGeom>
          <a:noFill/>
        </p:spPr>
        <p:txBody>
          <a:bodyPr wrap="square">
            <a:spAutoFit/>
          </a:bodyPr>
          <a:lstStyle/>
          <a:p>
            <a:pPr algn="ctr">
              <a:defRPr sz="1200" b="0">
                <a:solidFill>
                  <a:srgbClr val="6B7280"/>
                </a:solidFill>
                <a:latin typeface="Calibri"/>
              </a:defRPr>
            </a:pPr>
            <a:r>
              <a:t>Year 1 Revenue</a:t>
            </a:r>
          </a:p>
        </p:txBody>
      </p:sp>
      <p:sp>
        <p:nvSpPr>
          <p:cNvPr id="21" name="Rounded Rectangle 20"/>
          <p:cNvSpPr/>
          <p:nvPr/>
        </p:nvSpPr>
        <p:spPr>
          <a:xfrm>
            <a:off x="4846320" y="5303520"/>
            <a:ext cx="3017520" cy="109728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0" y="5440680"/>
            <a:ext cx="3017520" cy="457200"/>
          </a:xfrm>
          <a:prstGeom prst="rect">
            <a:avLst/>
          </a:prstGeom>
          <a:noFill/>
        </p:spPr>
        <p:txBody>
          <a:bodyPr wrap="square">
            <a:spAutoFit/>
          </a:bodyPr>
          <a:lstStyle/>
          <a:p>
            <a:pPr algn="ctr">
              <a:defRPr sz="2400" b="1">
                <a:solidFill>
                  <a:srgbClr val="4F46E5"/>
                </a:solidFill>
                <a:latin typeface="Calibri"/>
              </a:defRPr>
            </a:pPr>
            <a:r>
              <a:t>12M SAR</a:t>
            </a:r>
          </a:p>
        </p:txBody>
      </p:sp>
      <p:sp>
        <p:nvSpPr>
          <p:cNvPr id="23" name="TextBox 22"/>
          <p:cNvSpPr txBox="1"/>
          <p:nvPr/>
        </p:nvSpPr>
        <p:spPr>
          <a:xfrm>
            <a:off x="4846320" y="5897880"/>
            <a:ext cx="3017520" cy="274320"/>
          </a:xfrm>
          <a:prstGeom prst="rect">
            <a:avLst/>
          </a:prstGeom>
          <a:noFill/>
        </p:spPr>
        <p:txBody>
          <a:bodyPr wrap="square">
            <a:spAutoFit/>
          </a:bodyPr>
          <a:lstStyle/>
          <a:p>
            <a:pPr algn="ctr">
              <a:defRPr sz="1200" b="0">
                <a:solidFill>
                  <a:srgbClr val="6B7280"/>
                </a:solidFill>
                <a:latin typeface="Calibri"/>
              </a:defRPr>
            </a:pPr>
            <a:r>
              <a:t>Year 2 Revenue</a:t>
            </a:r>
          </a:p>
        </p:txBody>
      </p:sp>
      <p:sp>
        <p:nvSpPr>
          <p:cNvPr id="24" name="Rounded Rectangle 23"/>
          <p:cNvSpPr/>
          <p:nvPr/>
        </p:nvSpPr>
        <p:spPr>
          <a:xfrm>
            <a:off x="8321040" y="5303520"/>
            <a:ext cx="3017520" cy="109728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5440680"/>
            <a:ext cx="3017520" cy="457200"/>
          </a:xfrm>
          <a:prstGeom prst="rect">
            <a:avLst/>
          </a:prstGeom>
          <a:noFill/>
        </p:spPr>
        <p:txBody>
          <a:bodyPr wrap="square">
            <a:spAutoFit/>
          </a:bodyPr>
          <a:lstStyle/>
          <a:p>
            <a:pPr algn="ctr">
              <a:defRPr sz="2400" b="1">
                <a:solidFill>
                  <a:srgbClr val="4F46E5"/>
                </a:solidFill>
                <a:latin typeface="Calibri"/>
              </a:defRPr>
            </a:pPr>
            <a:r>
              <a:t>84M SAR</a:t>
            </a:r>
          </a:p>
        </p:txBody>
      </p:sp>
      <p:sp>
        <p:nvSpPr>
          <p:cNvPr id="26" name="TextBox 25"/>
          <p:cNvSpPr txBox="1"/>
          <p:nvPr/>
        </p:nvSpPr>
        <p:spPr>
          <a:xfrm>
            <a:off x="8321040" y="5897880"/>
            <a:ext cx="3017520" cy="274320"/>
          </a:xfrm>
          <a:prstGeom prst="rect">
            <a:avLst/>
          </a:prstGeom>
          <a:noFill/>
        </p:spPr>
        <p:txBody>
          <a:bodyPr wrap="square">
            <a:spAutoFit/>
          </a:bodyPr>
          <a:lstStyle/>
          <a:p>
            <a:pPr algn="ctr">
              <a:defRPr sz="1200" b="0">
                <a:solidFill>
                  <a:srgbClr val="6B7280"/>
                </a:solidFill>
                <a:latin typeface="Calibri"/>
              </a:defRPr>
            </a:pPr>
            <a:r>
              <a:t>Year 3 Revenue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731520" y="365760"/>
            <a:ext cx="3657600" cy="365760"/>
          </a:xfrm>
          <a:prstGeom prst="rect">
            <a:avLst/>
          </a:prstGeom>
          <a:noFill/>
        </p:spPr>
        <p:txBody>
          <a:bodyPr wrap="square">
            <a:spAutoFit/>
          </a:bodyPr>
          <a:lstStyle/>
          <a:p>
            <a:pPr algn="l">
              <a:defRPr sz="1100" b="1">
                <a:solidFill>
                  <a:srgbClr val="4F46E5"/>
                </a:solidFill>
                <a:latin typeface="Calibri"/>
              </a:defRPr>
            </a:pPr>
            <a:r>
              <a:t>BUSINESS MODEL</a:t>
            </a:r>
          </a:p>
        </p:txBody>
      </p:sp>
      <p:sp>
        <p:nvSpPr>
          <p:cNvPr id="3" name="TextBox 2"/>
          <p:cNvSpPr txBox="1"/>
          <p:nvPr/>
        </p:nvSpPr>
        <p:spPr>
          <a:xfrm>
            <a:off x="731520" y="731520"/>
            <a:ext cx="9144000" cy="731520"/>
          </a:xfrm>
          <a:prstGeom prst="rect">
            <a:avLst/>
          </a:prstGeom>
          <a:noFill/>
        </p:spPr>
        <p:txBody>
          <a:bodyPr wrap="square">
            <a:spAutoFit/>
          </a:bodyPr>
          <a:lstStyle/>
          <a:p>
            <a:pPr algn="l">
              <a:defRPr sz="3600" b="1">
                <a:solidFill>
                  <a:srgbClr val="1A1A1A"/>
                </a:solidFill>
                <a:latin typeface="Calibri"/>
              </a:defRPr>
            </a:pPr>
            <a:r>
              <a:t>Per-employee-per-month. Simple, scalable.</a:t>
            </a:r>
          </a:p>
        </p:txBody>
      </p:sp>
      <p:sp>
        <p:nvSpPr>
          <p:cNvPr id="4" name="TextBox 3"/>
          <p:cNvSpPr txBox="1"/>
          <p:nvPr/>
        </p:nvSpPr>
        <p:spPr>
          <a:xfrm>
            <a:off x="731520" y="1280160"/>
            <a:ext cx="8229600" cy="548640"/>
          </a:xfrm>
          <a:prstGeom prst="rect">
            <a:avLst/>
          </a:prstGeom>
          <a:noFill/>
        </p:spPr>
        <p:txBody>
          <a:bodyPr wrap="square">
            <a:spAutoFit/>
          </a:bodyPr>
          <a:lstStyle/>
          <a:p>
            <a:pPr algn="l">
              <a:defRPr sz="1600" b="0">
                <a:solidFill>
                  <a:srgbClr val="6B7280"/>
                </a:solidFill>
                <a:latin typeface="Calibri"/>
              </a:defRPr>
            </a:pPr>
            <a:r>
              <a:t>All 18 virtual employees and all 5 divisions included in every plan.</a:t>
            </a:r>
          </a:p>
        </p:txBody>
      </p:sp>
      <p:sp>
        <p:nvSpPr>
          <p:cNvPr id="5" name="Rounded Rectangle 4"/>
          <p:cNvSpPr/>
          <p:nvPr/>
        </p:nvSpPr>
        <p:spPr>
          <a:xfrm>
            <a:off x="731520" y="2011680"/>
            <a:ext cx="3383280" cy="274320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286000"/>
            <a:ext cx="3383280" cy="320040"/>
          </a:xfrm>
          <a:prstGeom prst="rect">
            <a:avLst/>
          </a:prstGeom>
          <a:noFill/>
        </p:spPr>
        <p:txBody>
          <a:bodyPr wrap="square">
            <a:spAutoFit/>
          </a:bodyPr>
          <a:lstStyle/>
          <a:p>
            <a:pPr algn="ctr">
              <a:defRPr sz="1400" b="1">
                <a:solidFill>
                  <a:srgbClr val="1A1A1A"/>
                </a:solidFill>
                <a:latin typeface="Calibri"/>
              </a:defRPr>
            </a:pPr>
            <a:r>
              <a:t>Starter</a:t>
            </a:r>
          </a:p>
        </p:txBody>
      </p:sp>
      <p:sp>
        <p:nvSpPr>
          <p:cNvPr id="7" name="TextBox 6"/>
          <p:cNvSpPr txBox="1"/>
          <p:nvPr/>
        </p:nvSpPr>
        <p:spPr>
          <a:xfrm>
            <a:off x="731520" y="2651760"/>
            <a:ext cx="3383280" cy="548640"/>
          </a:xfrm>
          <a:prstGeom prst="rect">
            <a:avLst/>
          </a:prstGeom>
          <a:noFill/>
        </p:spPr>
        <p:txBody>
          <a:bodyPr wrap="square">
            <a:spAutoFit/>
          </a:bodyPr>
          <a:lstStyle/>
          <a:p>
            <a:pPr algn="ctr">
              <a:defRPr sz="3200" b="1">
                <a:solidFill>
                  <a:srgbClr val="4F46E5"/>
                </a:solidFill>
                <a:latin typeface="Calibri"/>
              </a:defRPr>
            </a:pPr>
            <a:r>
              <a:t>9,375</a:t>
            </a:r>
          </a:p>
        </p:txBody>
      </p:sp>
      <p:sp>
        <p:nvSpPr>
          <p:cNvPr id="8" name="TextBox 7"/>
          <p:cNvSpPr txBox="1"/>
          <p:nvPr/>
        </p:nvSpPr>
        <p:spPr>
          <a:xfrm>
            <a:off x="731520" y="3108960"/>
            <a:ext cx="3383280" cy="274320"/>
          </a:xfrm>
          <a:prstGeom prst="rect">
            <a:avLst/>
          </a:prstGeom>
          <a:noFill/>
        </p:spPr>
        <p:txBody>
          <a:bodyPr wrap="square">
            <a:spAutoFit/>
          </a:bodyPr>
          <a:lstStyle/>
          <a:p>
            <a:pPr algn="ctr">
              <a:defRPr sz="1300" b="0">
                <a:solidFill>
                  <a:srgbClr val="9CA3AF"/>
                </a:solidFill>
                <a:latin typeface="Calibri"/>
              </a:defRPr>
            </a:pPr>
            <a:r>
              <a:t>SAR / month</a:t>
            </a:r>
          </a:p>
        </p:txBody>
      </p:sp>
      <p:sp>
        <p:nvSpPr>
          <p:cNvPr id="9" name="TextBox 8"/>
          <p:cNvSpPr txBox="1"/>
          <p:nvPr/>
        </p:nvSpPr>
        <p:spPr>
          <a:xfrm>
            <a:off x="1005840" y="3474720"/>
            <a:ext cx="2834640" cy="1097280"/>
          </a:xfrm>
          <a:prstGeom prst="rect">
            <a:avLst/>
          </a:prstGeom>
          <a:noFill/>
        </p:spPr>
        <p:txBody>
          <a:bodyPr wrap="square">
            <a:spAutoFit/>
          </a:bodyPr>
          <a:lstStyle/>
          <a:p>
            <a:pPr algn="ctr">
              <a:defRPr sz="1200" b="0">
                <a:solidFill>
                  <a:srgbClr val="9CA3AF"/>
                </a:solidFill>
                <a:latin typeface="Calibri"/>
              </a:defRPr>
            </a:pPr>
            <a:r>
              <a:t>Up to 50 employees</a:t>
            </a:r>
            <a:br/>
            <a:r>
              <a:t>2 channels · Policy RAG · Email support</a:t>
            </a:r>
          </a:p>
        </p:txBody>
      </p:sp>
      <p:sp>
        <p:nvSpPr>
          <p:cNvPr id="10" name="Rounded Rectangle 9"/>
          <p:cNvSpPr/>
          <p:nvPr/>
        </p:nvSpPr>
        <p:spPr>
          <a:xfrm>
            <a:off x="4480559" y="2011680"/>
            <a:ext cx="3383280" cy="2743200"/>
          </a:xfrm>
          <a:prstGeom prst="roundRect">
            <a:avLst>
              <a:gd name="adj" fmla="val 5000"/>
            </a:avLst>
          </a:prstGeom>
          <a:solidFill>
            <a:srgbClr val="FFFF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303519" y="1874519"/>
            <a:ext cx="1737360" cy="320040"/>
          </a:xfrm>
          <a:prstGeom prst="roundRect">
            <a:avLst>
              <a:gd name="adj" fmla="val 5000"/>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19" y="1892807"/>
            <a:ext cx="1737360" cy="274320"/>
          </a:xfrm>
          <a:prstGeom prst="rect">
            <a:avLst/>
          </a:prstGeom>
          <a:noFill/>
        </p:spPr>
        <p:txBody>
          <a:bodyPr wrap="square">
            <a:spAutoFit/>
          </a:bodyPr>
          <a:lstStyle/>
          <a:p>
            <a:pPr algn="ctr">
              <a:defRPr sz="900" b="1">
                <a:solidFill>
                  <a:srgbClr val="FFFFFF"/>
                </a:solidFill>
                <a:latin typeface="Calibri"/>
              </a:defRPr>
            </a:pPr>
            <a:r>
              <a:t>MOST POPULAR</a:t>
            </a:r>
          </a:p>
        </p:txBody>
      </p:sp>
      <p:sp>
        <p:nvSpPr>
          <p:cNvPr id="13" name="TextBox 12"/>
          <p:cNvSpPr txBox="1"/>
          <p:nvPr/>
        </p:nvSpPr>
        <p:spPr>
          <a:xfrm>
            <a:off x="4480559" y="2286000"/>
            <a:ext cx="3383280" cy="320040"/>
          </a:xfrm>
          <a:prstGeom prst="rect">
            <a:avLst/>
          </a:prstGeom>
          <a:noFill/>
        </p:spPr>
        <p:txBody>
          <a:bodyPr wrap="square">
            <a:spAutoFit/>
          </a:bodyPr>
          <a:lstStyle/>
          <a:p>
            <a:pPr algn="ctr">
              <a:defRPr sz="1400" b="1">
                <a:solidFill>
                  <a:srgbClr val="1A1A1A"/>
                </a:solidFill>
                <a:latin typeface="Calibri"/>
              </a:defRPr>
            </a:pPr>
            <a:r>
              <a:t>Growth</a:t>
            </a:r>
          </a:p>
        </p:txBody>
      </p:sp>
      <p:sp>
        <p:nvSpPr>
          <p:cNvPr id="14" name="TextBox 13"/>
          <p:cNvSpPr txBox="1"/>
          <p:nvPr/>
        </p:nvSpPr>
        <p:spPr>
          <a:xfrm>
            <a:off x="4480559" y="2651760"/>
            <a:ext cx="3383280" cy="548640"/>
          </a:xfrm>
          <a:prstGeom prst="rect">
            <a:avLst/>
          </a:prstGeom>
          <a:noFill/>
        </p:spPr>
        <p:txBody>
          <a:bodyPr wrap="square">
            <a:spAutoFit/>
          </a:bodyPr>
          <a:lstStyle/>
          <a:p>
            <a:pPr algn="ctr">
              <a:defRPr sz="3200" b="1">
                <a:solidFill>
                  <a:srgbClr val="4F46E5"/>
                </a:solidFill>
                <a:latin typeface="Calibri"/>
              </a:defRPr>
            </a:pPr>
            <a:r>
              <a:t>22,500</a:t>
            </a:r>
          </a:p>
        </p:txBody>
      </p:sp>
      <p:sp>
        <p:nvSpPr>
          <p:cNvPr id="15" name="TextBox 14"/>
          <p:cNvSpPr txBox="1"/>
          <p:nvPr/>
        </p:nvSpPr>
        <p:spPr>
          <a:xfrm>
            <a:off x="4480559" y="3108960"/>
            <a:ext cx="3383280" cy="274320"/>
          </a:xfrm>
          <a:prstGeom prst="rect">
            <a:avLst/>
          </a:prstGeom>
          <a:noFill/>
        </p:spPr>
        <p:txBody>
          <a:bodyPr wrap="square">
            <a:spAutoFit/>
          </a:bodyPr>
          <a:lstStyle/>
          <a:p>
            <a:pPr algn="ctr">
              <a:defRPr sz="1300" b="0">
                <a:solidFill>
                  <a:srgbClr val="9CA3AF"/>
                </a:solidFill>
                <a:latin typeface="Calibri"/>
              </a:defRPr>
            </a:pPr>
            <a:r>
              <a:t>SAR / month</a:t>
            </a:r>
          </a:p>
        </p:txBody>
      </p:sp>
      <p:sp>
        <p:nvSpPr>
          <p:cNvPr id="16" name="TextBox 15"/>
          <p:cNvSpPr txBox="1"/>
          <p:nvPr/>
        </p:nvSpPr>
        <p:spPr>
          <a:xfrm>
            <a:off x="4754879" y="3474720"/>
            <a:ext cx="2834640" cy="1097280"/>
          </a:xfrm>
          <a:prstGeom prst="rect">
            <a:avLst/>
          </a:prstGeom>
          <a:noFill/>
        </p:spPr>
        <p:txBody>
          <a:bodyPr wrap="square">
            <a:spAutoFit/>
          </a:bodyPr>
          <a:lstStyle/>
          <a:p>
            <a:pPr algn="ctr">
              <a:defRPr sz="1200" b="0">
                <a:solidFill>
                  <a:srgbClr val="9CA3AF"/>
                </a:solidFill>
                <a:latin typeface="Calibri"/>
              </a:defRPr>
            </a:pPr>
            <a:r>
              <a:t>Up to 250 employees</a:t>
            </a:r>
            <a:br/>
            <a:r>
              <a:t>All channels · Agent Factory · CHRO dashboard</a:t>
            </a:r>
          </a:p>
        </p:txBody>
      </p:sp>
      <p:sp>
        <p:nvSpPr>
          <p:cNvPr id="17" name="Rounded Rectangle 16"/>
          <p:cNvSpPr/>
          <p:nvPr/>
        </p:nvSpPr>
        <p:spPr>
          <a:xfrm>
            <a:off x="8229598" y="2011680"/>
            <a:ext cx="3383280" cy="274320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8" y="2286000"/>
            <a:ext cx="3383280" cy="320040"/>
          </a:xfrm>
          <a:prstGeom prst="rect">
            <a:avLst/>
          </a:prstGeom>
          <a:noFill/>
        </p:spPr>
        <p:txBody>
          <a:bodyPr wrap="square">
            <a:spAutoFit/>
          </a:bodyPr>
          <a:lstStyle/>
          <a:p>
            <a:pPr algn="ctr">
              <a:defRPr sz="1400" b="1">
                <a:solidFill>
                  <a:srgbClr val="1A1A1A"/>
                </a:solidFill>
                <a:latin typeface="Calibri"/>
              </a:defRPr>
            </a:pPr>
            <a:r>
              <a:t>Enterprise</a:t>
            </a:r>
          </a:p>
        </p:txBody>
      </p:sp>
      <p:sp>
        <p:nvSpPr>
          <p:cNvPr id="19" name="TextBox 18"/>
          <p:cNvSpPr txBox="1"/>
          <p:nvPr/>
        </p:nvSpPr>
        <p:spPr>
          <a:xfrm>
            <a:off x="8229598" y="2651760"/>
            <a:ext cx="3383280" cy="548640"/>
          </a:xfrm>
          <a:prstGeom prst="rect">
            <a:avLst/>
          </a:prstGeom>
          <a:noFill/>
        </p:spPr>
        <p:txBody>
          <a:bodyPr wrap="square">
            <a:spAutoFit/>
          </a:bodyPr>
          <a:lstStyle/>
          <a:p>
            <a:pPr algn="ctr">
              <a:defRPr sz="3200" b="1">
                <a:solidFill>
                  <a:srgbClr val="4F46E5"/>
                </a:solidFill>
                <a:latin typeface="Calibri"/>
              </a:defRPr>
            </a:pPr>
            <a:r>
              <a:t>Custom</a:t>
            </a:r>
          </a:p>
        </p:txBody>
      </p:sp>
      <p:sp>
        <p:nvSpPr>
          <p:cNvPr id="20" name="TextBox 19"/>
          <p:cNvSpPr txBox="1"/>
          <p:nvPr/>
        </p:nvSpPr>
        <p:spPr>
          <a:xfrm>
            <a:off x="8503918" y="3474720"/>
            <a:ext cx="2834640" cy="1097280"/>
          </a:xfrm>
          <a:prstGeom prst="rect">
            <a:avLst/>
          </a:prstGeom>
          <a:noFill/>
        </p:spPr>
        <p:txBody>
          <a:bodyPr wrap="square">
            <a:spAutoFit/>
          </a:bodyPr>
          <a:lstStyle/>
          <a:p>
            <a:pPr algn="ctr">
              <a:defRPr sz="1200" b="0">
                <a:solidFill>
                  <a:srgbClr val="9CA3AF"/>
                </a:solidFill>
                <a:latin typeface="Calibri"/>
              </a:defRPr>
            </a:pPr>
            <a:r>
              <a:t>250+ employees</a:t>
            </a:r>
            <a:br/>
            <a:r>
              <a:t>Custom training · SLA · Dedicated success manager</a:t>
            </a:r>
          </a:p>
        </p:txBody>
      </p:sp>
      <p:sp>
        <p:nvSpPr>
          <p:cNvPr id="21" name="Rounded Rectangle 20"/>
          <p:cNvSpPr/>
          <p:nvPr/>
        </p:nvSpPr>
        <p:spPr>
          <a:xfrm>
            <a:off x="731520" y="5029200"/>
            <a:ext cx="3383280" cy="109728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166360"/>
            <a:ext cx="3383280" cy="457200"/>
          </a:xfrm>
          <a:prstGeom prst="rect">
            <a:avLst/>
          </a:prstGeom>
          <a:noFill/>
        </p:spPr>
        <p:txBody>
          <a:bodyPr wrap="square">
            <a:spAutoFit/>
          </a:bodyPr>
          <a:lstStyle/>
          <a:p>
            <a:pPr algn="ctr">
              <a:defRPr sz="2400" b="1">
                <a:solidFill>
                  <a:srgbClr val="4F46E5"/>
                </a:solidFill>
                <a:latin typeface="Calibri"/>
              </a:defRPr>
            </a:pPr>
            <a:r>
              <a:t>85%+</a:t>
            </a:r>
          </a:p>
        </p:txBody>
      </p:sp>
      <p:sp>
        <p:nvSpPr>
          <p:cNvPr id="23" name="TextBox 22"/>
          <p:cNvSpPr txBox="1"/>
          <p:nvPr/>
        </p:nvSpPr>
        <p:spPr>
          <a:xfrm>
            <a:off x="731520" y="5623560"/>
            <a:ext cx="3383280" cy="274320"/>
          </a:xfrm>
          <a:prstGeom prst="rect">
            <a:avLst/>
          </a:prstGeom>
          <a:noFill/>
        </p:spPr>
        <p:txBody>
          <a:bodyPr wrap="square">
            <a:spAutoFit/>
          </a:bodyPr>
          <a:lstStyle/>
          <a:p>
            <a:pPr algn="ctr">
              <a:defRPr sz="1200" b="0">
                <a:solidFill>
                  <a:srgbClr val="6B7280"/>
                </a:solidFill>
                <a:latin typeface="Calibri"/>
              </a:defRPr>
            </a:pPr>
            <a:r>
              <a:t>Gross Margins</a:t>
            </a:r>
          </a:p>
        </p:txBody>
      </p:sp>
      <p:sp>
        <p:nvSpPr>
          <p:cNvPr id="24" name="Rounded Rectangle 23"/>
          <p:cNvSpPr/>
          <p:nvPr/>
        </p:nvSpPr>
        <p:spPr>
          <a:xfrm>
            <a:off x="4480559" y="5029200"/>
            <a:ext cx="3383280" cy="109728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59" y="5166360"/>
            <a:ext cx="3383280" cy="457200"/>
          </a:xfrm>
          <a:prstGeom prst="rect">
            <a:avLst/>
          </a:prstGeom>
          <a:noFill/>
        </p:spPr>
        <p:txBody>
          <a:bodyPr wrap="square">
            <a:spAutoFit/>
          </a:bodyPr>
          <a:lstStyle/>
          <a:p>
            <a:pPr algn="ctr">
              <a:defRPr sz="2400" b="1">
                <a:solidFill>
                  <a:srgbClr val="4F46E5"/>
                </a:solidFill>
                <a:latin typeface="Calibri"/>
              </a:defRPr>
            </a:pPr>
            <a:r>
              <a:t>28x</a:t>
            </a:r>
          </a:p>
        </p:txBody>
      </p:sp>
      <p:sp>
        <p:nvSpPr>
          <p:cNvPr id="26" name="TextBox 25"/>
          <p:cNvSpPr txBox="1"/>
          <p:nvPr/>
        </p:nvSpPr>
        <p:spPr>
          <a:xfrm>
            <a:off x="4480559" y="5623560"/>
            <a:ext cx="3383280" cy="274320"/>
          </a:xfrm>
          <a:prstGeom prst="rect">
            <a:avLst/>
          </a:prstGeom>
          <a:noFill/>
        </p:spPr>
        <p:txBody>
          <a:bodyPr wrap="square">
            <a:spAutoFit/>
          </a:bodyPr>
          <a:lstStyle/>
          <a:p>
            <a:pPr algn="ctr">
              <a:defRPr sz="1200" b="0">
                <a:solidFill>
                  <a:srgbClr val="6B7280"/>
                </a:solidFill>
                <a:latin typeface="Calibri"/>
              </a:defRPr>
            </a:pPr>
            <a:r>
              <a:t>LTV : CAC</a:t>
            </a:r>
          </a:p>
        </p:txBody>
      </p:sp>
      <p:sp>
        <p:nvSpPr>
          <p:cNvPr id="27" name="Rounded Rectangle 26"/>
          <p:cNvSpPr/>
          <p:nvPr/>
        </p:nvSpPr>
        <p:spPr>
          <a:xfrm>
            <a:off x="8229598" y="5029200"/>
            <a:ext cx="3383280" cy="109728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598" y="5166360"/>
            <a:ext cx="3383280" cy="457200"/>
          </a:xfrm>
          <a:prstGeom prst="rect">
            <a:avLst/>
          </a:prstGeom>
          <a:noFill/>
        </p:spPr>
        <p:txBody>
          <a:bodyPr wrap="square">
            <a:spAutoFit/>
          </a:bodyPr>
          <a:lstStyle/>
          <a:p>
            <a:pPr algn="ctr">
              <a:defRPr sz="2400" b="1">
                <a:solidFill>
                  <a:srgbClr val="4F46E5"/>
                </a:solidFill>
                <a:latin typeface="Calibri"/>
              </a:defRPr>
            </a:pPr>
            <a:r>
              <a:t>115%</a:t>
            </a:r>
          </a:p>
        </p:txBody>
      </p:sp>
      <p:sp>
        <p:nvSpPr>
          <p:cNvPr id="29" name="TextBox 28"/>
          <p:cNvSpPr txBox="1"/>
          <p:nvPr/>
        </p:nvSpPr>
        <p:spPr>
          <a:xfrm>
            <a:off x="8229598" y="5623560"/>
            <a:ext cx="3383280" cy="274320"/>
          </a:xfrm>
          <a:prstGeom prst="rect">
            <a:avLst/>
          </a:prstGeom>
          <a:noFill/>
        </p:spPr>
        <p:txBody>
          <a:bodyPr wrap="square">
            <a:spAutoFit/>
          </a:bodyPr>
          <a:lstStyle/>
          <a:p>
            <a:pPr algn="ctr">
              <a:defRPr sz="1200" b="0">
                <a:solidFill>
                  <a:srgbClr val="6B7280"/>
                </a:solidFill>
                <a:latin typeface="Calibri"/>
              </a:defRPr>
            </a:pPr>
            <a:r>
              <a:t>Net Revenue Retention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spAutoFit/>
          </a:bodyPr>
          <a:lstStyle/>
          <a:p>
            <a:pPr algn="l">
              <a:defRPr sz="1100" b="1">
                <a:solidFill>
                  <a:srgbClr val="4F46E5"/>
                </a:solidFill>
                <a:latin typeface="Calibri"/>
              </a:defRPr>
            </a:pPr>
            <a:r>
              <a:t>TRACTION</a:t>
            </a:r>
          </a:p>
        </p:txBody>
      </p:sp>
      <p:sp>
        <p:nvSpPr>
          <p:cNvPr id="3" name="TextBox 2"/>
          <p:cNvSpPr txBox="1"/>
          <p:nvPr/>
        </p:nvSpPr>
        <p:spPr>
          <a:xfrm>
            <a:off x="731520" y="822960"/>
            <a:ext cx="9144000" cy="731520"/>
          </a:xfrm>
          <a:prstGeom prst="rect">
            <a:avLst/>
          </a:prstGeom>
          <a:noFill/>
        </p:spPr>
        <p:txBody>
          <a:bodyPr wrap="square">
            <a:spAutoFit/>
          </a:bodyPr>
          <a:lstStyle/>
          <a:p>
            <a:pPr algn="l">
              <a:defRPr sz="3600" b="1">
                <a:solidFill>
                  <a:srgbClr val="1A1A1A"/>
                </a:solidFill>
                <a:latin typeface="Calibri"/>
              </a:defRPr>
            </a:pPr>
            <a:r>
              <a:t>Early signals of demand</a:t>
            </a:r>
          </a:p>
        </p:txBody>
      </p:sp>
      <p:sp>
        <p:nvSpPr>
          <p:cNvPr id="4" name="TextBox 3"/>
          <p:cNvSpPr txBox="1"/>
          <p:nvPr/>
        </p:nvSpPr>
        <p:spPr>
          <a:xfrm>
            <a:off x="731520" y="1371600"/>
            <a:ext cx="8229600" cy="548640"/>
          </a:xfrm>
          <a:prstGeom prst="rect">
            <a:avLst/>
          </a:prstGeom>
          <a:noFill/>
        </p:spPr>
        <p:txBody>
          <a:bodyPr wrap="square">
            <a:spAutoFit/>
          </a:bodyPr>
          <a:lstStyle/>
          <a:p>
            <a:pPr algn="l">
              <a:defRPr sz="1600" b="0">
                <a:solidFill>
                  <a:srgbClr val="6B7280"/>
                </a:solidFill>
                <a:latin typeface="Calibri"/>
              </a:defRPr>
            </a:pPr>
            <a:r>
              <a:t>Pre-revenue. Building in public. Saudi market-first launch.</a:t>
            </a:r>
          </a:p>
        </p:txBody>
      </p:sp>
      <p:sp>
        <p:nvSpPr>
          <p:cNvPr id="5" name="Rounded Rectangle 4"/>
          <p:cNvSpPr/>
          <p:nvPr/>
        </p:nvSpPr>
        <p:spPr>
          <a:xfrm>
            <a:off x="731520" y="2103120"/>
            <a:ext cx="5029200" cy="182880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86000"/>
            <a:ext cx="4480560" cy="457200"/>
          </a:xfrm>
          <a:prstGeom prst="rect">
            <a:avLst/>
          </a:prstGeom>
          <a:noFill/>
        </p:spPr>
        <p:txBody>
          <a:bodyPr wrap="square">
            <a:spAutoFit/>
          </a:bodyPr>
          <a:lstStyle/>
          <a:p>
            <a:pPr algn="l">
              <a:defRPr sz="2400" b="1">
                <a:solidFill>
                  <a:srgbClr val="16A34A"/>
                </a:solidFill>
                <a:latin typeface="Calibri"/>
              </a:defRPr>
            </a:pPr>
            <a:r>
              <a:t>Live</a:t>
            </a:r>
          </a:p>
        </p:txBody>
      </p:sp>
      <p:sp>
        <p:nvSpPr>
          <p:cNvPr id="7" name="TextBox 6"/>
          <p:cNvSpPr txBox="1"/>
          <p:nvPr/>
        </p:nvSpPr>
        <p:spPr>
          <a:xfrm>
            <a:off x="1005840" y="2743200"/>
            <a:ext cx="4480560" cy="320040"/>
          </a:xfrm>
          <a:prstGeom prst="rect">
            <a:avLst/>
          </a:prstGeom>
          <a:noFill/>
        </p:spPr>
        <p:txBody>
          <a:bodyPr wrap="square">
            <a:spAutoFit/>
          </a:bodyPr>
          <a:lstStyle/>
          <a:p>
            <a:pPr algn="l">
              <a:defRPr sz="1400" b="0">
                <a:solidFill>
                  <a:srgbClr val="6B7280"/>
                </a:solidFill>
                <a:latin typeface="Calibri"/>
              </a:defRPr>
            </a:pPr>
            <a:r>
              <a:t>Working Prototype</a:t>
            </a:r>
          </a:p>
        </p:txBody>
      </p:sp>
      <p:sp>
        <p:nvSpPr>
          <p:cNvPr id="8" name="TextBox 7"/>
          <p:cNvSpPr txBox="1"/>
          <p:nvPr/>
        </p:nvSpPr>
        <p:spPr>
          <a:xfrm>
            <a:off x="1005840" y="3154680"/>
            <a:ext cx="4480560" cy="548640"/>
          </a:xfrm>
          <a:prstGeom prst="rect">
            <a:avLst/>
          </a:prstGeom>
          <a:noFill/>
        </p:spPr>
        <p:txBody>
          <a:bodyPr wrap="square">
            <a:spAutoFit/>
          </a:bodyPr>
          <a:lstStyle/>
          <a:p>
            <a:pPr algn="l">
              <a:defRPr sz="1200" b="0">
                <a:solidFill>
                  <a:srgbClr val="9CA3AF"/>
                </a:solidFill>
                <a:latin typeface="Calibri"/>
              </a:defRPr>
            </a:pPr>
            <a:r>
              <a:t>Functional product demo with all 5 divisions, chat interface, CHRO dashboard, and Agent Factory.</a:t>
            </a:r>
          </a:p>
        </p:txBody>
      </p:sp>
      <p:sp>
        <p:nvSpPr>
          <p:cNvPr id="9" name="Rounded Rectangle 8"/>
          <p:cNvSpPr/>
          <p:nvPr/>
        </p:nvSpPr>
        <p:spPr>
          <a:xfrm>
            <a:off x="6217920" y="2103120"/>
            <a:ext cx="5029200" cy="182880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286000"/>
            <a:ext cx="4480560" cy="457200"/>
          </a:xfrm>
          <a:prstGeom prst="rect">
            <a:avLst/>
          </a:prstGeom>
          <a:noFill/>
        </p:spPr>
        <p:txBody>
          <a:bodyPr wrap="square">
            <a:spAutoFit/>
          </a:bodyPr>
          <a:lstStyle/>
          <a:p>
            <a:pPr algn="l">
              <a:defRPr sz="2400" b="1">
                <a:solidFill>
                  <a:srgbClr val="4F46E5"/>
                </a:solidFill>
                <a:latin typeface="Calibri"/>
              </a:defRPr>
            </a:pPr>
            <a:r>
              <a:t>94%</a:t>
            </a:r>
          </a:p>
        </p:txBody>
      </p:sp>
      <p:sp>
        <p:nvSpPr>
          <p:cNvPr id="11" name="TextBox 10"/>
          <p:cNvSpPr txBox="1"/>
          <p:nvPr/>
        </p:nvSpPr>
        <p:spPr>
          <a:xfrm>
            <a:off x="6492240" y="2743200"/>
            <a:ext cx="4480560" cy="320040"/>
          </a:xfrm>
          <a:prstGeom prst="rect">
            <a:avLst/>
          </a:prstGeom>
          <a:noFill/>
        </p:spPr>
        <p:txBody>
          <a:bodyPr wrap="square">
            <a:spAutoFit/>
          </a:bodyPr>
          <a:lstStyle/>
          <a:p>
            <a:pPr algn="l">
              <a:defRPr sz="1400" b="0">
                <a:solidFill>
                  <a:srgbClr val="6B7280"/>
                </a:solidFill>
                <a:latin typeface="Calibri"/>
              </a:defRPr>
            </a:pPr>
            <a:r>
              <a:t>Auto-Resolution Rate</a:t>
            </a:r>
          </a:p>
        </p:txBody>
      </p:sp>
      <p:sp>
        <p:nvSpPr>
          <p:cNvPr id="12" name="TextBox 11"/>
          <p:cNvSpPr txBox="1"/>
          <p:nvPr/>
        </p:nvSpPr>
        <p:spPr>
          <a:xfrm>
            <a:off x="6492240" y="3154680"/>
            <a:ext cx="4480560" cy="548640"/>
          </a:xfrm>
          <a:prstGeom prst="rect">
            <a:avLst/>
          </a:prstGeom>
          <a:noFill/>
        </p:spPr>
        <p:txBody>
          <a:bodyPr wrap="square">
            <a:spAutoFit/>
          </a:bodyPr>
          <a:lstStyle/>
          <a:p>
            <a:pPr algn="l">
              <a:defRPr sz="1200" b="0">
                <a:solidFill>
                  <a:srgbClr val="9CA3AF"/>
                </a:solidFill>
                <a:latin typeface="Calibri"/>
              </a:defRPr>
            </a:pPr>
            <a:r>
              <a:t>In prototype testing — employee queries handled without human escalation.</a:t>
            </a:r>
          </a:p>
        </p:txBody>
      </p:sp>
      <p:sp>
        <p:nvSpPr>
          <p:cNvPr id="13" name="Rounded Rectangle 12"/>
          <p:cNvSpPr/>
          <p:nvPr/>
        </p:nvSpPr>
        <p:spPr>
          <a:xfrm>
            <a:off x="731520" y="4297680"/>
            <a:ext cx="5029200" cy="1828800"/>
          </a:xfrm>
          <a:prstGeom prst="roundRect">
            <a:avLst>
              <a:gd name="adj" fmla="val 5000"/>
            </a:avLst>
          </a:prstGeom>
          <a:solidFill>
            <a:srgbClr val="FFFFFF"/>
          </a:solidFill>
          <a:ln w="12700">
            <a:solidFill>
              <a:srgbClr val="9CA3AF"/>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480560"/>
            <a:ext cx="4480560" cy="457200"/>
          </a:xfrm>
          <a:prstGeom prst="rect">
            <a:avLst/>
          </a:prstGeom>
          <a:noFill/>
        </p:spPr>
        <p:txBody>
          <a:bodyPr wrap="square">
            <a:spAutoFit/>
          </a:bodyPr>
          <a:lstStyle/>
          <a:p>
            <a:pPr algn="l">
              <a:defRPr sz="2400" b="1">
                <a:solidFill>
                  <a:srgbClr val="9CA3AF"/>
                </a:solidFill>
                <a:latin typeface="Calibri"/>
              </a:defRPr>
            </a:pPr>
            <a:r>
              <a:t>[XX]</a:t>
            </a:r>
          </a:p>
        </p:txBody>
      </p:sp>
      <p:sp>
        <p:nvSpPr>
          <p:cNvPr id="15" name="TextBox 14"/>
          <p:cNvSpPr txBox="1"/>
          <p:nvPr/>
        </p:nvSpPr>
        <p:spPr>
          <a:xfrm>
            <a:off x="1005840" y="4937760"/>
            <a:ext cx="4480560" cy="320040"/>
          </a:xfrm>
          <a:prstGeom prst="rect">
            <a:avLst/>
          </a:prstGeom>
          <a:noFill/>
        </p:spPr>
        <p:txBody>
          <a:bodyPr wrap="square">
            <a:spAutoFit/>
          </a:bodyPr>
          <a:lstStyle/>
          <a:p>
            <a:pPr algn="l">
              <a:defRPr sz="1400" b="0">
                <a:solidFill>
                  <a:srgbClr val="6B7280"/>
                </a:solidFill>
                <a:latin typeface="Calibri"/>
              </a:defRPr>
            </a:pPr>
            <a:r>
              <a:t>Waitlist Signups</a:t>
            </a:r>
          </a:p>
        </p:txBody>
      </p:sp>
      <p:sp>
        <p:nvSpPr>
          <p:cNvPr id="16" name="TextBox 15"/>
          <p:cNvSpPr txBox="1"/>
          <p:nvPr/>
        </p:nvSpPr>
        <p:spPr>
          <a:xfrm>
            <a:off x="1005840" y="5349240"/>
            <a:ext cx="4480560" cy="548640"/>
          </a:xfrm>
          <a:prstGeom prst="rect">
            <a:avLst/>
          </a:prstGeom>
          <a:noFill/>
        </p:spPr>
        <p:txBody>
          <a:bodyPr wrap="square">
            <a:spAutoFit/>
          </a:bodyPr>
          <a:lstStyle/>
          <a:p>
            <a:pPr algn="l">
              <a:defRPr sz="1200" b="0">
                <a:solidFill>
                  <a:srgbClr val="9CA3AF"/>
                </a:solidFill>
                <a:latin typeface="Calibri"/>
              </a:defRPr>
            </a:pPr>
            <a:r>
              <a:t>Landing page live at krew.sa — collecting interest from Saudi companies.</a:t>
            </a:r>
          </a:p>
        </p:txBody>
      </p:sp>
      <p:sp>
        <p:nvSpPr>
          <p:cNvPr id="17" name="Rounded Rectangle 16"/>
          <p:cNvSpPr/>
          <p:nvPr/>
        </p:nvSpPr>
        <p:spPr>
          <a:xfrm>
            <a:off x="6217920" y="4297680"/>
            <a:ext cx="5029200" cy="1828800"/>
          </a:xfrm>
          <a:prstGeom prst="roundRect">
            <a:avLst>
              <a:gd name="adj" fmla="val 5000"/>
            </a:avLst>
          </a:prstGeom>
          <a:solidFill>
            <a:srgbClr val="FFFFFF"/>
          </a:solidFill>
          <a:ln w="12700">
            <a:solidFill>
              <a:srgbClr val="9CA3AF"/>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4480560"/>
            <a:ext cx="4480560" cy="457200"/>
          </a:xfrm>
          <a:prstGeom prst="rect">
            <a:avLst/>
          </a:prstGeom>
          <a:noFill/>
        </p:spPr>
        <p:txBody>
          <a:bodyPr wrap="square">
            <a:spAutoFit/>
          </a:bodyPr>
          <a:lstStyle/>
          <a:p>
            <a:pPr algn="l">
              <a:defRPr sz="2400" b="1">
                <a:solidFill>
                  <a:srgbClr val="9CA3AF"/>
                </a:solidFill>
                <a:latin typeface="Calibri"/>
              </a:defRPr>
            </a:pPr>
            <a:r>
              <a:t>[XX]</a:t>
            </a:r>
          </a:p>
        </p:txBody>
      </p:sp>
      <p:sp>
        <p:nvSpPr>
          <p:cNvPr id="19" name="TextBox 18"/>
          <p:cNvSpPr txBox="1"/>
          <p:nvPr/>
        </p:nvSpPr>
        <p:spPr>
          <a:xfrm>
            <a:off x="6492240" y="4937760"/>
            <a:ext cx="4480560" cy="320040"/>
          </a:xfrm>
          <a:prstGeom prst="rect">
            <a:avLst/>
          </a:prstGeom>
          <a:noFill/>
        </p:spPr>
        <p:txBody>
          <a:bodyPr wrap="square">
            <a:spAutoFit/>
          </a:bodyPr>
          <a:lstStyle/>
          <a:p>
            <a:pPr algn="l">
              <a:defRPr sz="1400" b="0">
                <a:solidFill>
                  <a:srgbClr val="6B7280"/>
                </a:solidFill>
                <a:latin typeface="Calibri"/>
              </a:defRPr>
            </a:pPr>
            <a:r>
              <a:t>LOIs / Pilot Commitments</a:t>
            </a:r>
          </a:p>
        </p:txBody>
      </p:sp>
      <p:sp>
        <p:nvSpPr>
          <p:cNvPr id="20" name="TextBox 19"/>
          <p:cNvSpPr txBox="1"/>
          <p:nvPr/>
        </p:nvSpPr>
        <p:spPr>
          <a:xfrm>
            <a:off x="6492240" y="5349240"/>
            <a:ext cx="4480560" cy="548640"/>
          </a:xfrm>
          <a:prstGeom prst="rect">
            <a:avLst/>
          </a:prstGeom>
          <a:noFill/>
        </p:spPr>
        <p:txBody>
          <a:bodyPr wrap="square">
            <a:spAutoFit/>
          </a:bodyPr>
          <a:lstStyle/>
          <a:p>
            <a:pPr algn="l">
              <a:defRPr sz="1200" b="0">
                <a:solidFill>
                  <a:srgbClr val="9CA3AF"/>
                </a:solidFill>
                <a:latin typeface="Calibri"/>
              </a:defRPr>
            </a:pPr>
            <a:r>
              <a:t>Letters of intent from target companies for beta access.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731520" y="274320"/>
            <a:ext cx="3657600" cy="365760"/>
          </a:xfrm>
          <a:prstGeom prst="rect">
            <a:avLst/>
          </a:prstGeom>
          <a:noFill/>
        </p:spPr>
        <p:txBody>
          <a:bodyPr wrap="square">
            <a:spAutoFit/>
          </a:bodyPr>
          <a:lstStyle/>
          <a:p>
            <a:pPr algn="l">
              <a:defRPr sz="1100" b="1">
                <a:solidFill>
                  <a:srgbClr val="4F46E5"/>
                </a:solidFill>
                <a:latin typeface="Calibri"/>
              </a:defRPr>
            </a:pPr>
            <a:r>
              <a:t>COMPETITIVE LANDSCAPE</a:t>
            </a:r>
          </a:p>
        </p:txBody>
      </p:sp>
      <p:sp>
        <p:nvSpPr>
          <p:cNvPr id="3" name="TextBox 2"/>
          <p:cNvSpPr txBox="1"/>
          <p:nvPr/>
        </p:nvSpPr>
        <p:spPr>
          <a:xfrm>
            <a:off x="731520" y="594360"/>
            <a:ext cx="9144000" cy="731520"/>
          </a:xfrm>
          <a:prstGeom prst="rect">
            <a:avLst/>
          </a:prstGeom>
          <a:noFill/>
        </p:spPr>
        <p:txBody>
          <a:bodyPr wrap="square">
            <a:spAutoFit/>
          </a:bodyPr>
          <a:lstStyle/>
          <a:p>
            <a:pPr algn="l">
              <a:defRPr sz="3600" b="1">
                <a:solidFill>
                  <a:srgbClr val="1A1A1A"/>
                </a:solidFill>
                <a:latin typeface="Calibri"/>
              </a:defRPr>
            </a:pPr>
            <a:r>
              <a:t>No one is building a full-stack AI HR department</a:t>
            </a:r>
          </a:p>
        </p:txBody>
      </p:sp>
      <p:sp>
        <p:nvSpPr>
          <p:cNvPr id="4" name="TextBox 3"/>
          <p:cNvSpPr txBox="1"/>
          <p:nvPr/>
        </p:nvSpPr>
        <p:spPr>
          <a:xfrm>
            <a:off x="731520" y="1143000"/>
            <a:ext cx="8229600" cy="548640"/>
          </a:xfrm>
          <a:prstGeom prst="rect">
            <a:avLst/>
          </a:prstGeom>
          <a:noFill/>
        </p:spPr>
        <p:txBody>
          <a:bodyPr wrap="square">
            <a:spAutoFit/>
          </a:bodyPr>
          <a:lstStyle/>
          <a:p>
            <a:pPr algn="l">
              <a:defRPr sz="1600" b="0">
                <a:solidFill>
                  <a:srgbClr val="6B7280"/>
                </a:solidFill>
                <a:latin typeface="Calibri"/>
              </a:defRPr>
            </a:pPr>
            <a:r>
              <a:t>Everyone is either adding AI to legacy platforms, or solving one HR problem.</a:t>
            </a:r>
          </a:p>
        </p:txBody>
      </p:sp>
      <p:sp>
        <p:nvSpPr>
          <p:cNvPr id="5" name="Rectangle 4"/>
          <p:cNvSpPr/>
          <p:nvPr/>
        </p:nvSpPr>
        <p:spPr>
          <a:xfrm>
            <a:off x="1645920" y="5943600"/>
            <a:ext cx="8686800" cy="254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45920" y="1828800"/>
            <a:ext cx="25400" cy="41148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45920" y="3886200"/>
            <a:ext cx="8686800"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89320" y="1828800"/>
            <a:ext cx="12700" cy="41148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0" y="6035040"/>
            <a:ext cx="8686800" cy="274320"/>
          </a:xfrm>
          <a:prstGeom prst="rect">
            <a:avLst/>
          </a:prstGeom>
          <a:noFill/>
        </p:spPr>
        <p:txBody>
          <a:bodyPr wrap="square">
            <a:spAutoFit/>
          </a:bodyPr>
          <a:lstStyle/>
          <a:p>
            <a:pPr algn="ctr">
              <a:defRPr sz="1100" b="1">
                <a:solidFill>
                  <a:srgbClr val="6B7280"/>
                </a:solidFill>
                <a:latin typeface="Calibri"/>
              </a:defRPr>
            </a:pPr>
            <a:r>
              <a:t>HR Coverage →</a:t>
            </a:r>
          </a:p>
        </p:txBody>
      </p:sp>
      <p:sp>
        <p:nvSpPr>
          <p:cNvPr id="10" name="TextBox 9"/>
          <p:cNvSpPr txBox="1"/>
          <p:nvPr/>
        </p:nvSpPr>
        <p:spPr>
          <a:xfrm>
            <a:off x="1783080" y="5806440"/>
            <a:ext cx="1371600" cy="228600"/>
          </a:xfrm>
          <a:prstGeom prst="rect">
            <a:avLst/>
          </a:prstGeom>
          <a:noFill/>
        </p:spPr>
        <p:txBody>
          <a:bodyPr wrap="square">
            <a:spAutoFit/>
          </a:bodyPr>
          <a:lstStyle/>
          <a:p>
            <a:pPr algn="l">
              <a:defRPr sz="900" b="0">
                <a:solidFill>
                  <a:srgbClr val="9CA3AF"/>
                </a:solidFill>
                <a:latin typeface="Calibri"/>
              </a:defRPr>
            </a:pPr>
            <a:r>
              <a:t>Single Function</a:t>
            </a:r>
          </a:p>
        </p:txBody>
      </p:sp>
      <p:sp>
        <p:nvSpPr>
          <p:cNvPr id="11" name="TextBox 10"/>
          <p:cNvSpPr txBox="1"/>
          <p:nvPr/>
        </p:nvSpPr>
        <p:spPr>
          <a:xfrm>
            <a:off x="8778240" y="5806440"/>
            <a:ext cx="1371600" cy="228600"/>
          </a:xfrm>
          <a:prstGeom prst="rect">
            <a:avLst/>
          </a:prstGeom>
          <a:noFill/>
        </p:spPr>
        <p:txBody>
          <a:bodyPr wrap="square">
            <a:spAutoFit/>
          </a:bodyPr>
          <a:lstStyle/>
          <a:p>
            <a:pPr algn="l">
              <a:defRPr sz="900" b="0">
                <a:solidFill>
                  <a:srgbClr val="9CA3AF"/>
                </a:solidFill>
                <a:latin typeface="Calibri"/>
              </a:defRPr>
            </a:pPr>
            <a:r>
              <a:t>Full Department</a:t>
            </a:r>
          </a:p>
        </p:txBody>
      </p:sp>
      <p:sp>
        <p:nvSpPr>
          <p:cNvPr id="12" name="TextBox 11"/>
          <p:cNvSpPr txBox="1"/>
          <p:nvPr/>
        </p:nvSpPr>
        <p:spPr>
          <a:xfrm>
            <a:off x="365760" y="5486400"/>
            <a:ext cx="1188720" cy="228600"/>
          </a:xfrm>
          <a:prstGeom prst="rect">
            <a:avLst/>
          </a:prstGeom>
          <a:noFill/>
        </p:spPr>
        <p:txBody>
          <a:bodyPr wrap="square">
            <a:spAutoFit/>
          </a:bodyPr>
          <a:lstStyle/>
          <a:p>
            <a:pPr algn="l">
              <a:defRPr sz="900" b="0">
                <a:solidFill>
                  <a:srgbClr val="9CA3AF"/>
                </a:solidFill>
                <a:latin typeface="Calibri"/>
              </a:defRPr>
            </a:pPr>
            <a:r>
              <a:t>Human-</a:t>
            </a:r>
            <a:br/>
            <a:r>
              <a:t>Dependent</a:t>
            </a:r>
          </a:p>
        </p:txBody>
      </p:sp>
      <p:sp>
        <p:nvSpPr>
          <p:cNvPr id="13" name="TextBox 12"/>
          <p:cNvSpPr txBox="1"/>
          <p:nvPr/>
        </p:nvSpPr>
        <p:spPr>
          <a:xfrm>
            <a:off x="457200" y="1920240"/>
            <a:ext cx="1097280" cy="228600"/>
          </a:xfrm>
          <a:prstGeom prst="rect">
            <a:avLst/>
          </a:prstGeom>
          <a:noFill/>
        </p:spPr>
        <p:txBody>
          <a:bodyPr wrap="square">
            <a:spAutoFit/>
          </a:bodyPr>
          <a:lstStyle/>
          <a:p>
            <a:pPr algn="l">
              <a:defRPr sz="900" b="0">
                <a:solidFill>
                  <a:srgbClr val="9CA3AF"/>
                </a:solidFill>
                <a:latin typeface="Calibri"/>
              </a:defRPr>
            </a:pPr>
            <a:r>
              <a:t>AI-Native</a:t>
            </a:r>
          </a:p>
        </p:txBody>
      </p:sp>
      <p:sp>
        <p:nvSpPr>
          <p:cNvPr id="14" name="TextBox 13"/>
          <p:cNvSpPr txBox="1"/>
          <p:nvPr/>
        </p:nvSpPr>
        <p:spPr>
          <a:xfrm>
            <a:off x="2103120" y="1965960"/>
            <a:ext cx="3200400" cy="228600"/>
          </a:xfrm>
          <a:prstGeom prst="rect">
            <a:avLst/>
          </a:prstGeom>
          <a:noFill/>
        </p:spPr>
        <p:txBody>
          <a:bodyPr wrap="square">
            <a:spAutoFit/>
          </a:bodyPr>
          <a:lstStyle/>
          <a:p>
            <a:pPr algn="ctr">
              <a:defRPr sz="900" b="1">
                <a:solidFill>
                  <a:srgbClr val="9CA3AF"/>
                </a:solidFill>
                <a:latin typeface="Calibri"/>
              </a:defRPr>
            </a:pPr>
            <a:r>
              <a:t>AI POINT SOLUTIONS</a:t>
            </a:r>
          </a:p>
        </p:txBody>
      </p:sp>
      <p:sp>
        <p:nvSpPr>
          <p:cNvPr id="15" name="TextBox 14"/>
          <p:cNvSpPr txBox="1"/>
          <p:nvPr/>
        </p:nvSpPr>
        <p:spPr>
          <a:xfrm>
            <a:off x="6446520" y="1965960"/>
            <a:ext cx="3200400" cy="228600"/>
          </a:xfrm>
          <a:prstGeom prst="rect">
            <a:avLst/>
          </a:prstGeom>
          <a:noFill/>
        </p:spPr>
        <p:txBody>
          <a:bodyPr wrap="square">
            <a:spAutoFit/>
          </a:bodyPr>
          <a:lstStyle/>
          <a:p>
            <a:pPr algn="ctr">
              <a:defRPr sz="900" b="1">
                <a:solidFill>
                  <a:srgbClr val="9CA3AF"/>
                </a:solidFill>
                <a:latin typeface="Calibri"/>
              </a:defRPr>
            </a:pPr>
            <a:r>
              <a:t>AI HR DEPARTMENT</a:t>
            </a:r>
          </a:p>
        </p:txBody>
      </p:sp>
      <p:sp>
        <p:nvSpPr>
          <p:cNvPr id="16" name="TextBox 15"/>
          <p:cNvSpPr txBox="1"/>
          <p:nvPr/>
        </p:nvSpPr>
        <p:spPr>
          <a:xfrm>
            <a:off x="2103120" y="4617720"/>
            <a:ext cx="3200400" cy="228600"/>
          </a:xfrm>
          <a:prstGeom prst="rect">
            <a:avLst/>
          </a:prstGeom>
          <a:noFill/>
        </p:spPr>
        <p:txBody>
          <a:bodyPr wrap="square">
            <a:spAutoFit/>
          </a:bodyPr>
          <a:lstStyle/>
          <a:p>
            <a:pPr algn="ctr">
              <a:defRPr sz="900" b="1">
                <a:solidFill>
                  <a:srgbClr val="9CA3AF"/>
                </a:solidFill>
                <a:latin typeface="Calibri"/>
              </a:defRPr>
            </a:pPr>
            <a:r>
              <a:t>LEGACY HRO</a:t>
            </a:r>
          </a:p>
        </p:txBody>
      </p:sp>
      <p:sp>
        <p:nvSpPr>
          <p:cNvPr id="17" name="TextBox 16"/>
          <p:cNvSpPr txBox="1"/>
          <p:nvPr/>
        </p:nvSpPr>
        <p:spPr>
          <a:xfrm>
            <a:off x="6446520" y="4617720"/>
            <a:ext cx="3200400" cy="228600"/>
          </a:xfrm>
          <a:prstGeom prst="rect">
            <a:avLst/>
          </a:prstGeom>
          <a:noFill/>
        </p:spPr>
        <p:txBody>
          <a:bodyPr wrap="square">
            <a:spAutoFit/>
          </a:bodyPr>
          <a:lstStyle/>
          <a:p>
            <a:pPr algn="ctr">
              <a:defRPr sz="900" b="1">
                <a:solidFill>
                  <a:srgbClr val="9CA3AF"/>
                </a:solidFill>
                <a:latin typeface="Calibri"/>
              </a:defRPr>
            </a:pPr>
            <a:r>
              <a:t>TRADITIONAL HCM</a:t>
            </a:r>
          </a:p>
        </p:txBody>
      </p:sp>
      <p:sp>
        <p:nvSpPr>
          <p:cNvPr id="18" name="Oval 17"/>
          <p:cNvSpPr/>
          <p:nvPr/>
        </p:nvSpPr>
        <p:spPr>
          <a:xfrm>
            <a:off x="2948940" y="5120640"/>
            <a:ext cx="137160" cy="137160"/>
          </a:xfrm>
          <a:prstGeom prst="ellipse">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83180" y="5285232"/>
            <a:ext cx="914400" cy="228600"/>
          </a:xfrm>
          <a:prstGeom prst="rect">
            <a:avLst/>
          </a:prstGeom>
          <a:noFill/>
        </p:spPr>
        <p:txBody>
          <a:bodyPr wrap="square">
            <a:spAutoFit/>
          </a:bodyPr>
          <a:lstStyle/>
          <a:p>
            <a:pPr algn="ctr">
              <a:defRPr sz="900" b="0">
                <a:solidFill>
                  <a:srgbClr val="6B7280"/>
                </a:solidFill>
                <a:latin typeface="Calibri"/>
              </a:defRPr>
            </a:pPr>
            <a:r>
              <a:t>TriNet</a:t>
            </a:r>
          </a:p>
        </p:txBody>
      </p:sp>
      <p:sp>
        <p:nvSpPr>
          <p:cNvPr id="20" name="Oval 19"/>
          <p:cNvSpPr/>
          <p:nvPr/>
        </p:nvSpPr>
        <p:spPr>
          <a:xfrm>
            <a:off x="3817620" y="5326380"/>
            <a:ext cx="137160" cy="137160"/>
          </a:xfrm>
          <a:prstGeom prst="ellipse">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1860" y="5490972"/>
            <a:ext cx="914400" cy="228600"/>
          </a:xfrm>
          <a:prstGeom prst="rect">
            <a:avLst/>
          </a:prstGeom>
          <a:noFill/>
        </p:spPr>
        <p:txBody>
          <a:bodyPr wrap="square">
            <a:spAutoFit/>
          </a:bodyPr>
          <a:lstStyle/>
          <a:p>
            <a:pPr algn="ctr">
              <a:defRPr sz="900" b="0">
                <a:solidFill>
                  <a:srgbClr val="6B7280"/>
                </a:solidFill>
                <a:latin typeface="Calibri"/>
              </a:defRPr>
            </a:pPr>
            <a:r>
              <a:t>ADP</a:t>
            </a:r>
          </a:p>
        </p:txBody>
      </p:sp>
      <p:sp>
        <p:nvSpPr>
          <p:cNvPr id="22" name="Oval 21"/>
          <p:cNvSpPr/>
          <p:nvPr/>
        </p:nvSpPr>
        <p:spPr>
          <a:xfrm>
            <a:off x="4425696" y="4791456"/>
            <a:ext cx="137160" cy="137160"/>
          </a:xfrm>
          <a:prstGeom prst="ellipse">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59936" y="4956048"/>
            <a:ext cx="914400" cy="228600"/>
          </a:xfrm>
          <a:prstGeom prst="rect">
            <a:avLst/>
          </a:prstGeom>
          <a:noFill/>
        </p:spPr>
        <p:txBody>
          <a:bodyPr wrap="square">
            <a:spAutoFit/>
          </a:bodyPr>
          <a:lstStyle/>
          <a:p>
            <a:pPr algn="ctr">
              <a:defRPr sz="900" b="0">
                <a:solidFill>
                  <a:srgbClr val="6B7280"/>
                </a:solidFill>
                <a:latin typeface="Calibri"/>
              </a:defRPr>
            </a:pPr>
            <a:r>
              <a:t>Deel</a:t>
            </a:r>
          </a:p>
        </p:txBody>
      </p:sp>
      <p:sp>
        <p:nvSpPr>
          <p:cNvPr id="24" name="Oval 23"/>
          <p:cNvSpPr/>
          <p:nvPr/>
        </p:nvSpPr>
        <p:spPr>
          <a:xfrm>
            <a:off x="7726680" y="4791456"/>
            <a:ext cx="137160" cy="137160"/>
          </a:xfrm>
          <a:prstGeom prst="ellipse">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0920" y="4956048"/>
            <a:ext cx="914400" cy="228600"/>
          </a:xfrm>
          <a:prstGeom prst="rect">
            <a:avLst/>
          </a:prstGeom>
          <a:noFill/>
        </p:spPr>
        <p:txBody>
          <a:bodyPr wrap="square">
            <a:spAutoFit/>
          </a:bodyPr>
          <a:lstStyle/>
          <a:p>
            <a:pPr algn="ctr">
              <a:defRPr sz="900" b="0">
                <a:solidFill>
                  <a:srgbClr val="6B7280"/>
                </a:solidFill>
                <a:latin typeface="Calibri"/>
              </a:defRPr>
            </a:pPr>
            <a:r>
              <a:t>Workday</a:t>
            </a:r>
          </a:p>
        </p:txBody>
      </p:sp>
      <p:sp>
        <p:nvSpPr>
          <p:cNvPr id="26" name="Oval 25"/>
          <p:cNvSpPr/>
          <p:nvPr/>
        </p:nvSpPr>
        <p:spPr>
          <a:xfrm>
            <a:off x="8421624" y="5120640"/>
            <a:ext cx="137160" cy="137160"/>
          </a:xfrm>
          <a:prstGeom prst="ellipse">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55864" y="5285232"/>
            <a:ext cx="914400" cy="228600"/>
          </a:xfrm>
          <a:prstGeom prst="rect">
            <a:avLst/>
          </a:prstGeom>
          <a:noFill/>
        </p:spPr>
        <p:txBody>
          <a:bodyPr wrap="square">
            <a:spAutoFit/>
          </a:bodyPr>
          <a:lstStyle/>
          <a:p>
            <a:pPr algn="ctr">
              <a:defRPr sz="900" b="0">
                <a:solidFill>
                  <a:srgbClr val="6B7280"/>
                </a:solidFill>
                <a:latin typeface="Calibri"/>
              </a:defRPr>
            </a:pPr>
            <a:r>
              <a:t>SAP</a:t>
            </a:r>
          </a:p>
        </p:txBody>
      </p:sp>
      <p:sp>
        <p:nvSpPr>
          <p:cNvPr id="28" name="Oval 27"/>
          <p:cNvSpPr/>
          <p:nvPr/>
        </p:nvSpPr>
        <p:spPr>
          <a:xfrm>
            <a:off x="6858000" y="4626864"/>
            <a:ext cx="137160" cy="137160"/>
          </a:xfrm>
          <a:prstGeom prst="ellipse">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4791456"/>
            <a:ext cx="914400" cy="228600"/>
          </a:xfrm>
          <a:prstGeom prst="rect">
            <a:avLst/>
          </a:prstGeom>
          <a:noFill/>
        </p:spPr>
        <p:txBody>
          <a:bodyPr wrap="square">
            <a:spAutoFit/>
          </a:bodyPr>
          <a:lstStyle/>
          <a:p>
            <a:pPr algn="ctr">
              <a:defRPr sz="900" b="0">
                <a:solidFill>
                  <a:srgbClr val="6B7280"/>
                </a:solidFill>
                <a:latin typeface="Calibri"/>
              </a:defRPr>
            </a:pPr>
            <a:r>
              <a:t>BambooHR</a:t>
            </a:r>
          </a:p>
        </p:txBody>
      </p:sp>
      <p:sp>
        <p:nvSpPr>
          <p:cNvPr id="30" name="Oval 29"/>
          <p:cNvSpPr/>
          <p:nvPr/>
        </p:nvSpPr>
        <p:spPr>
          <a:xfrm>
            <a:off x="2775204" y="2651760"/>
            <a:ext cx="137160" cy="137160"/>
          </a:xfrm>
          <a:prstGeom prst="ellipse">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09444" y="2816352"/>
            <a:ext cx="914400" cy="228600"/>
          </a:xfrm>
          <a:prstGeom prst="rect">
            <a:avLst/>
          </a:prstGeom>
          <a:noFill/>
        </p:spPr>
        <p:txBody>
          <a:bodyPr wrap="square">
            <a:spAutoFit/>
          </a:bodyPr>
          <a:lstStyle/>
          <a:p>
            <a:pPr algn="ctr">
              <a:defRPr sz="900" b="0">
                <a:solidFill>
                  <a:srgbClr val="6B7280"/>
                </a:solidFill>
                <a:latin typeface="Calibri"/>
              </a:defRPr>
            </a:pPr>
            <a:r>
              <a:t>Leena AI</a:t>
            </a:r>
          </a:p>
        </p:txBody>
      </p:sp>
      <p:sp>
        <p:nvSpPr>
          <p:cNvPr id="32" name="Oval 31"/>
          <p:cNvSpPr/>
          <p:nvPr/>
        </p:nvSpPr>
        <p:spPr>
          <a:xfrm>
            <a:off x="3817620" y="2322576"/>
            <a:ext cx="137160" cy="137160"/>
          </a:xfrm>
          <a:prstGeom prst="ellipse">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51860" y="2487168"/>
            <a:ext cx="914400" cy="228600"/>
          </a:xfrm>
          <a:prstGeom prst="rect">
            <a:avLst/>
          </a:prstGeom>
          <a:noFill/>
        </p:spPr>
        <p:txBody>
          <a:bodyPr wrap="square">
            <a:spAutoFit/>
          </a:bodyPr>
          <a:lstStyle/>
          <a:p>
            <a:pPr algn="ctr">
              <a:defRPr sz="900" b="0">
                <a:solidFill>
                  <a:srgbClr val="6B7280"/>
                </a:solidFill>
                <a:latin typeface="Calibri"/>
              </a:defRPr>
            </a:pPr>
            <a:r>
              <a:t>Paradox</a:t>
            </a:r>
          </a:p>
        </p:txBody>
      </p:sp>
      <p:sp>
        <p:nvSpPr>
          <p:cNvPr id="34" name="Oval 33"/>
          <p:cNvSpPr/>
          <p:nvPr/>
        </p:nvSpPr>
        <p:spPr>
          <a:xfrm>
            <a:off x="4512564" y="2734056"/>
            <a:ext cx="137160" cy="137160"/>
          </a:xfrm>
          <a:prstGeom prst="ellipse">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46804" y="2898648"/>
            <a:ext cx="914400" cy="228600"/>
          </a:xfrm>
          <a:prstGeom prst="rect">
            <a:avLst/>
          </a:prstGeom>
          <a:noFill/>
        </p:spPr>
        <p:txBody>
          <a:bodyPr wrap="square">
            <a:spAutoFit/>
          </a:bodyPr>
          <a:lstStyle/>
          <a:p>
            <a:pPr algn="ctr">
              <a:defRPr sz="900" b="0">
                <a:solidFill>
                  <a:srgbClr val="6B7280"/>
                </a:solidFill>
                <a:latin typeface="Calibri"/>
              </a:defRPr>
            </a:pPr>
            <a:r>
              <a:t>Eightfold</a:t>
            </a:r>
          </a:p>
        </p:txBody>
      </p:sp>
      <p:sp>
        <p:nvSpPr>
          <p:cNvPr id="36" name="Oval 35"/>
          <p:cNvSpPr/>
          <p:nvPr/>
        </p:nvSpPr>
        <p:spPr>
          <a:xfrm>
            <a:off x="3383280" y="3063240"/>
            <a:ext cx="137160" cy="137160"/>
          </a:xfrm>
          <a:prstGeom prst="ellipse">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17520" y="3227832"/>
            <a:ext cx="914400" cy="228600"/>
          </a:xfrm>
          <a:prstGeom prst="rect">
            <a:avLst/>
          </a:prstGeom>
          <a:noFill/>
        </p:spPr>
        <p:txBody>
          <a:bodyPr wrap="square">
            <a:spAutoFit/>
          </a:bodyPr>
          <a:lstStyle/>
          <a:p>
            <a:pPr algn="ctr">
              <a:defRPr sz="900" b="0">
                <a:solidFill>
                  <a:srgbClr val="6B7280"/>
                </a:solidFill>
                <a:latin typeface="Calibri"/>
              </a:defRPr>
            </a:pPr>
            <a:r>
              <a:t>Beamery</a:t>
            </a:r>
          </a:p>
        </p:txBody>
      </p:sp>
      <p:sp>
        <p:nvSpPr>
          <p:cNvPr id="38" name="Oval 37"/>
          <p:cNvSpPr/>
          <p:nvPr/>
        </p:nvSpPr>
        <p:spPr>
          <a:xfrm>
            <a:off x="8238744" y="2057400"/>
            <a:ext cx="640080" cy="640080"/>
          </a:xfrm>
          <a:prstGeom prst="ellipse">
            <a:avLst/>
          </a:prstGeom>
          <a:solidFill>
            <a:srgbClr val="EDEDFB"/>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421624" y="2240280"/>
            <a:ext cx="274320" cy="27432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920240"/>
            <a:ext cx="822960" cy="274320"/>
          </a:xfrm>
          <a:prstGeom prst="rect">
            <a:avLst/>
          </a:prstGeom>
          <a:noFill/>
        </p:spPr>
        <p:txBody>
          <a:bodyPr wrap="square">
            <a:spAutoFit/>
          </a:bodyPr>
          <a:lstStyle/>
          <a:p>
            <a:pPr algn="ctr">
              <a:defRPr sz="1300" b="1">
                <a:solidFill>
                  <a:srgbClr val="4F46E5"/>
                </a:solidFill>
                <a:latin typeface="Calibri"/>
              </a:defRPr>
            </a:pPr>
            <a:r>
              <a:t>Krew</a:t>
            </a:r>
          </a:p>
        </p:txBody>
      </p:sp>
      <p:sp>
        <p:nvSpPr>
          <p:cNvPr id="41" name="TextBox 40"/>
          <p:cNvSpPr txBox="1"/>
          <p:nvPr/>
        </p:nvSpPr>
        <p:spPr>
          <a:xfrm>
            <a:off x="1371600" y="6126480"/>
            <a:ext cx="9144000" cy="365760"/>
          </a:xfrm>
          <a:prstGeom prst="rect">
            <a:avLst/>
          </a:prstGeom>
          <a:noFill/>
        </p:spPr>
        <p:txBody>
          <a:bodyPr wrap="square">
            <a:spAutoFit/>
          </a:bodyPr>
          <a:lstStyle/>
          <a:p>
            <a:pPr algn="ctr">
              <a:defRPr sz="1400" b="0">
                <a:solidFill>
                  <a:srgbClr val="6B7280"/>
                </a:solidFill>
                <a:latin typeface="Calibri"/>
              </a:defRPr>
            </a:pPr>
            <a:r>
              <a:t>Krew is the only company building a complete AI-native HR department — all 5 divisions, 18 virtual employees, one subscription.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731520" y="365760"/>
            <a:ext cx="3657600" cy="365760"/>
          </a:xfrm>
          <a:prstGeom prst="rect">
            <a:avLst/>
          </a:prstGeom>
          <a:noFill/>
        </p:spPr>
        <p:txBody>
          <a:bodyPr wrap="square">
            <a:spAutoFit/>
          </a:bodyPr>
          <a:lstStyle/>
          <a:p>
            <a:pPr algn="l">
              <a:defRPr sz="1100" b="1">
                <a:solidFill>
                  <a:srgbClr val="4F46E5"/>
                </a:solidFill>
                <a:latin typeface="Calibri"/>
              </a:defRPr>
            </a:pPr>
            <a:r>
              <a:t>THE TEAM</a:t>
            </a:r>
          </a:p>
        </p:txBody>
      </p:sp>
      <p:sp>
        <p:nvSpPr>
          <p:cNvPr id="3" name="TextBox 2"/>
          <p:cNvSpPr txBox="1"/>
          <p:nvPr/>
        </p:nvSpPr>
        <p:spPr>
          <a:xfrm>
            <a:off x="731520" y="731520"/>
            <a:ext cx="9144000" cy="731520"/>
          </a:xfrm>
          <a:prstGeom prst="rect">
            <a:avLst/>
          </a:prstGeom>
          <a:noFill/>
        </p:spPr>
        <p:txBody>
          <a:bodyPr wrap="square">
            <a:spAutoFit/>
          </a:bodyPr>
          <a:lstStyle/>
          <a:p>
            <a:pPr algn="l">
              <a:defRPr sz="3600" b="1">
                <a:solidFill>
                  <a:srgbClr val="1A1A1A"/>
                </a:solidFill>
                <a:latin typeface="Calibri"/>
              </a:defRPr>
            </a:pPr>
            <a:r>
              <a:t>Why we win</a:t>
            </a:r>
          </a:p>
        </p:txBody>
      </p:sp>
      <p:sp>
        <p:nvSpPr>
          <p:cNvPr id="4" name="TextBox 3"/>
          <p:cNvSpPr txBox="1"/>
          <p:nvPr/>
        </p:nvSpPr>
        <p:spPr>
          <a:xfrm>
            <a:off x="731520" y="1280160"/>
            <a:ext cx="8229600" cy="548640"/>
          </a:xfrm>
          <a:prstGeom prst="rect">
            <a:avLst/>
          </a:prstGeom>
          <a:noFill/>
        </p:spPr>
        <p:txBody>
          <a:bodyPr wrap="square">
            <a:spAutoFit/>
          </a:bodyPr>
          <a:lstStyle/>
          <a:p>
            <a:pPr algn="l">
              <a:defRPr sz="1600" b="0">
                <a:solidFill>
                  <a:srgbClr val="6B7280"/>
                </a:solidFill>
                <a:latin typeface="Calibri"/>
              </a:defRPr>
            </a:pPr>
            <a:r>
              <a:t>Brother &amp; sister. HR domain expertise meets AI technical capability.</a:t>
            </a:r>
          </a:p>
        </p:txBody>
      </p:sp>
      <p:sp>
        <p:nvSpPr>
          <p:cNvPr id="5" name="Rounded Rectangle 4"/>
          <p:cNvSpPr/>
          <p:nvPr/>
        </p:nvSpPr>
        <p:spPr>
          <a:xfrm>
            <a:off x="731520" y="2011680"/>
            <a:ext cx="5029200" cy="237744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743200" y="2194560"/>
            <a:ext cx="731520" cy="731520"/>
          </a:xfrm>
          <a:prstGeom prst="ellipse">
            <a:avLst/>
          </a:prstGeom>
          <a:solidFill>
            <a:srgbClr val="EDEDF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100" b="1">
                <a:solidFill>
                  <a:srgbClr val="4F46E5"/>
                </a:solidFill>
                <a:latin typeface="Calibri"/>
              </a:defRPr>
            </a:pPr>
            <a:r>
              <a:t>A</a:t>
            </a:r>
          </a:p>
        </p:txBody>
      </p:sp>
      <p:sp>
        <p:nvSpPr>
          <p:cNvPr id="7" name="TextBox 6"/>
          <p:cNvSpPr txBox="1"/>
          <p:nvPr/>
        </p:nvSpPr>
        <p:spPr>
          <a:xfrm>
            <a:off x="731520" y="3017520"/>
            <a:ext cx="5029200" cy="320040"/>
          </a:xfrm>
          <a:prstGeom prst="rect">
            <a:avLst/>
          </a:prstGeom>
          <a:noFill/>
        </p:spPr>
        <p:txBody>
          <a:bodyPr wrap="square">
            <a:spAutoFit/>
          </a:bodyPr>
          <a:lstStyle/>
          <a:p>
            <a:pPr algn="ctr">
              <a:defRPr sz="1700" b="1">
                <a:solidFill>
                  <a:srgbClr val="1A1A1A"/>
                </a:solidFill>
                <a:latin typeface="Calibri"/>
              </a:defRPr>
            </a:pPr>
            <a:r>
              <a:t>Ahmad Al Ghamdi</a:t>
            </a:r>
          </a:p>
        </p:txBody>
      </p:sp>
      <p:sp>
        <p:nvSpPr>
          <p:cNvPr id="8" name="TextBox 7"/>
          <p:cNvSpPr txBox="1"/>
          <p:nvPr/>
        </p:nvSpPr>
        <p:spPr>
          <a:xfrm>
            <a:off x="731520" y="3291840"/>
            <a:ext cx="5029200" cy="274320"/>
          </a:xfrm>
          <a:prstGeom prst="rect">
            <a:avLst/>
          </a:prstGeom>
          <a:noFill/>
        </p:spPr>
        <p:txBody>
          <a:bodyPr wrap="square">
            <a:spAutoFit/>
          </a:bodyPr>
          <a:lstStyle/>
          <a:p>
            <a:pPr algn="ctr">
              <a:defRPr sz="1300" b="1">
                <a:solidFill>
                  <a:srgbClr val="4F46E5"/>
                </a:solidFill>
                <a:latin typeface="Calibri"/>
              </a:defRPr>
            </a:pPr>
            <a:r>
              <a:t>Co-Founder &amp; CEO</a:t>
            </a:r>
          </a:p>
        </p:txBody>
      </p:sp>
      <p:sp>
        <p:nvSpPr>
          <p:cNvPr id="9" name="TextBox 8"/>
          <p:cNvSpPr txBox="1"/>
          <p:nvPr/>
        </p:nvSpPr>
        <p:spPr>
          <a:xfrm>
            <a:off x="1005840" y="3611880"/>
            <a:ext cx="4572000" cy="640080"/>
          </a:xfrm>
          <a:prstGeom prst="rect">
            <a:avLst/>
          </a:prstGeom>
          <a:noFill/>
        </p:spPr>
        <p:txBody>
          <a:bodyPr wrap="square">
            <a:spAutoFit/>
          </a:bodyPr>
          <a:lstStyle/>
          <a:p>
            <a:pPr algn="ctr">
              <a:defRPr sz="1200" b="0">
                <a:solidFill>
                  <a:srgbClr val="6B7280"/>
                </a:solidFill>
                <a:latin typeface="Calibri"/>
              </a:defRPr>
            </a:pPr>
            <a:r>
              <a:t>CHRO at stc (Saudi Telecom). One of the founding leaders of HR in Saudi Arabia. Deep expertise in Saudi labor market, workforce regulations (Nitaqat, GOSI, MOL), and organizational transformation. INSEAD alumnus.</a:t>
            </a:r>
          </a:p>
        </p:txBody>
      </p:sp>
      <p:sp>
        <p:nvSpPr>
          <p:cNvPr id="10" name="Rounded Rectangle 9"/>
          <p:cNvSpPr/>
          <p:nvPr/>
        </p:nvSpPr>
        <p:spPr>
          <a:xfrm>
            <a:off x="6400800" y="2011680"/>
            <a:ext cx="5029200" cy="237744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412480" y="2194560"/>
            <a:ext cx="731520" cy="731520"/>
          </a:xfrm>
          <a:prstGeom prst="ellipse">
            <a:avLst/>
          </a:prstGeom>
          <a:solidFill>
            <a:srgbClr val="FCE7F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100" b="1">
                <a:solidFill>
                  <a:srgbClr val="DB2777"/>
                </a:solidFill>
                <a:latin typeface="Calibri"/>
              </a:defRPr>
            </a:pPr>
            <a:r>
              <a:t>N</a:t>
            </a:r>
          </a:p>
        </p:txBody>
      </p:sp>
      <p:sp>
        <p:nvSpPr>
          <p:cNvPr id="12" name="TextBox 11"/>
          <p:cNvSpPr txBox="1"/>
          <p:nvPr/>
        </p:nvSpPr>
        <p:spPr>
          <a:xfrm>
            <a:off x="6400800" y="3017520"/>
            <a:ext cx="5029200" cy="320040"/>
          </a:xfrm>
          <a:prstGeom prst="rect">
            <a:avLst/>
          </a:prstGeom>
          <a:noFill/>
        </p:spPr>
        <p:txBody>
          <a:bodyPr wrap="square">
            <a:spAutoFit/>
          </a:bodyPr>
          <a:lstStyle/>
          <a:p>
            <a:pPr algn="ctr">
              <a:defRPr sz="1700" b="1">
                <a:solidFill>
                  <a:srgbClr val="1A1A1A"/>
                </a:solidFill>
                <a:latin typeface="Calibri"/>
              </a:defRPr>
            </a:pPr>
            <a:r>
              <a:t>Najwa Al Ghamdi</a:t>
            </a:r>
          </a:p>
        </p:txBody>
      </p:sp>
      <p:sp>
        <p:nvSpPr>
          <p:cNvPr id="13" name="TextBox 12"/>
          <p:cNvSpPr txBox="1"/>
          <p:nvPr/>
        </p:nvSpPr>
        <p:spPr>
          <a:xfrm>
            <a:off x="6400800" y="3291840"/>
            <a:ext cx="5029200" cy="274320"/>
          </a:xfrm>
          <a:prstGeom prst="rect">
            <a:avLst/>
          </a:prstGeom>
          <a:noFill/>
        </p:spPr>
        <p:txBody>
          <a:bodyPr wrap="square">
            <a:spAutoFit/>
          </a:bodyPr>
          <a:lstStyle/>
          <a:p>
            <a:pPr algn="ctr">
              <a:defRPr sz="1300" b="1">
                <a:solidFill>
                  <a:srgbClr val="4F46E5"/>
                </a:solidFill>
                <a:latin typeface="Calibri"/>
              </a:defRPr>
            </a:pPr>
            <a:r>
              <a:t>Co-Founder &amp; CTO</a:t>
            </a:r>
          </a:p>
        </p:txBody>
      </p:sp>
      <p:sp>
        <p:nvSpPr>
          <p:cNvPr id="14" name="TextBox 13"/>
          <p:cNvSpPr txBox="1"/>
          <p:nvPr/>
        </p:nvSpPr>
        <p:spPr>
          <a:xfrm>
            <a:off x="6675120" y="3611880"/>
            <a:ext cx="4572000" cy="640080"/>
          </a:xfrm>
          <a:prstGeom prst="rect">
            <a:avLst/>
          </a:prstGeom>
          <a:noFill/>
        </p:spPr>
        <p:txBody>
          <a:bodyPr wrap="square">
            <a:spAutoFit/>
          </a:bodyPr>
          <a:lstStyle/>
          <a:p>
            <a:pPr algn="ctr">
              <a:defRPr sz="1200" b="0">
                <a:solidFill>
                  <a:srgbClr val="6B7280"/>
                </a:solidFill>
                <a:latin typeface="Calibri"/>
              </a:defRPr>
            </a:pPr>
            <a:r>
              <a:t>General Manager — AI &amp; Analytics. One of the very few Saudis in Corporate AI. Technical expertise in AI/LLM systems, agent frameworks, RAG architectures, and full-stack development.</a:t>
            </a:r>
          </a:p>
        </p:txBody>
      </p:sp>
      <p:sp>
        <p:nvSpPr>
          <p:cNvPr id="15" name="TextBox 14"/>
          <p:cNvSpPr txBox="1"/>
          <p:nvPr/>
        </p:nvSpPr>
        <p:spPr>
          <a:xfrm>
            <a:off x="731520" y="4709160"/>
            <a:ext cx="5303520" cy="274320"/>
          </a:xfrm>
          <a:prstGeom prst="rect">
            <a:avLst/>
          </a:prstGeom>
          <a:noFill/>
        </p:spPr>
        <p:txBody>
          <a:bodyPr wrap="square">
            <a:spAutoFit/>
          </a:bodyPr>
          <a:lstStyle/>
          <a:p>
            <a:pPr algn="l">
              <a:defRPr sz="1400" b="1">
                <a:solidFill>
                  <a:srgbClr val="4F46E5"/>
                </a:solidFill>
                <a:latin typeface="Calibri"/>
              </a:defRPr>
            </a:pPr>
            <a:r>
              <a:t>→  Founder-market fit</a:t>
            </a:r>
          </a:p>
        </p:txBody>
      </p:sp>
      <p:sp>
        <p:nvSpPr>
          <p:cNvPr id="16" name="TextBox 15"/>
          <p:cNvSpPr txBox="1"/>
          <p:nvPr/>
        </p:nvSpPr>
        <p:spPr>
          <a:xfrm>
            <a:off x="1051560" y="4983480"/>
            <a:ext cx="5029200" cy="457200"/>
          </a:xfrm>
          <a:prstGeom prst="rect">
            <a:avLst/>
          </a:prstGeom>
          <a:noFill/>
        </p:spPr>
        <p:txBody>
          <a:bodyPr wrap="square">
            <a:spAutoFit/>
          </a:bodyPr>
          <a:lstStyle/>
          <a:p>
            <a:pPr algn="l">
              <a:defRPr sz="1200" b="0">
                <a:solidFill>
                  <a:srgbClr val="6B7280"/>
                </a:solidFill>
                <a:latin typeface="Calibri"/>
              </a:defRPr>
            </a:pPr>
            <a:r>
              <a:t>Ahmad is a founding leader of HR in Saudi as CHRO of stc; Najwa is one of the very few Saudis leading Corporate AI</a:t>
            </a:r>
          </a:p>
        </p:txBody>
      </p:sp>
      <p:sp>
        <p:nvSpPr>
          <p:cNvPr id="17" name="TextBox 16"/>
          <p:cNvSpPr txBox="1"/>
          <p:nvPr/>
        </p:nvSpPr>
        <p:spPr>
          <a:xfrm>
            <a:off x="6400800" y="4709160"/>
            <a:ext cx="5303520" cy="274320"/>
          </a:xfrm>
          <a:prstGeom prst="rect">
            <a:avLst/>
          </a:prstGeom>
          <a:noFill/>
        </p:spPr>
        <p:txBody>
          <a:bodyPr wrap="square">
            <a:spAutoFit/>
          </a:bodyPr>
          <a:lstStyle/>
          <a:p>
            <a:pPr algn="l">
              <a:defRPr sz="1400" b="1">
                <a:solidFill>
                  <a:srgbClr val="4F46E5"/>
                </a:solidFill>
                <a:latin typeface="Calibri"/>
              </a:defRPr>
            </a:pPr>
            <a:r>
              <a:t>→  First-mover advantage</a:t>
            </a:r>
          </a:p>
        </p:txBody>
      </p:sp>
      <p:sp>
        <p:nvSpPr>
          <p:cNvPr id="18" name="TextBox 17"/>
          <p:cNvSpPr txBox="1"/>
          <p:nvPr/>
        </p:nvSpPr>
        <p:spPr>
          <a:xfrm>
            <a:off x="6720840" y="4983480"/>
            <a:ext cx="5029200" cy="457200"/>
          </a:xfrm>
          <a:prstGeom prst="rect">
            <a:avLst/>
          </a:prstGeom>
          <a:noFill/>
        </p:spPr>
        <p:txBody>
          <a:bodyPr wrap="square">
            <a:spAutoFit/>
          </a:bodyPr>
          <a:lstStyle/>
          <a:p>
            <a:pPr algn="l">
              <a:defRPr sz="1200" b="0">
                <a:solidFill>
                  <a:srgbClr val="6B7280"/>
                </a:solidFill>
                <a:latin typeface="Calibri"/>
              </a:defRPr>
            </a:pPr>
            <a:r>
              <a:t>No competitor is building a complete AI HR department. We own the category.</a:t>
            </a:r>
          </a:p>
        </p:txBody>
      </p:sp>
      <p:sp>
        <p:nvSpPr>
          <p:cNvPr id="19" name="TextBox 18"/>
          <p:cNvSpPr txBox="1"/>
          <p:nvPr/>
        </p:nvSpPr>
        <p:spPr>
          <a:xfrm>
            <a:off x="731520" y="5486400"/>
            <a:ext cx="5303520" cy="274320"/>
          </a:xfrm>
          <a:prstGeom prst="rect">
            <a:avLst/>
          </a:prstGeom>
          <a:noFill/>
        </p:spPr>
        <p:txBody>
          <a:bodyPr wrap="square">
            <a:spAutoFit/>
          </a:bodyPr>
          <a:lstStyle/>
          <a:p>
            <a:pPr algn="l">
              <a:defRPr sz="1400" b="1">
                <a:solidFill>
                  <a:srgbClr val="4F46E5"/>
                </a:solidFill>
                <a:latin typeface="Calibri"/>
              </a:defRPr>
            </a:pPr>
            <a:r>
              <a:t>→  Saudi market-first</a:t>
            </a:r>
          </a:p>
        </p:txBody>
      </p:sp>
      <p:sp>
        <p:nvSpPr>
          <p:cNvPr id="20" name="TextBox 19"/>
          <p:cNvSpPr txBox="1"/>
          <p:nvPr/>
        </p:nvSpPr>
        <p:spPr>
          <a:xfrm>
            <a:off x="1051560" y="5760720"/>
            <a:ext cx="5029200" cy="457200"/>
          </a:xfrm>
          <a:prstGeom prst="rect">
            <a:avLst/>
          </a:prstGeom>
          <a:noFill/>
        </p:spPr>
        <p:txBody>
          <a:bodyPr wrap="square">
            <a:spAutoFit/>
          </a:bodyPr>
          <a:lstStyle/>
          <a:p>
            <a:pPr algn="l">
              <a:defRPr sz="1200" b="0">
                <a:solidFill>
                  <a:srgbClr val="6B7280"/>
                </a:solidFill>
                <a:latin typeface="Calibri"/>
              </a:defRPr>
            </a:pPr>
            <a:r>
              <a:t>Launching where we know the regulations, the culture, and the customers. Then expanding to GCC and globally.</a:t>
            </a:r>
          </a:p>
        </p:txBody>
      </p:sp>
      <p:sp>
        <p:nvSpPr>
          <p:cNvPr id="21" name="TextBox 20"/>
          <p:cNvSpPr txBox="1"/>
          <p:nvPr/>
        </p:nvSpPr>
        <p:spPr>
          <a:xfrm>
            <a:off x="6400800" y="5486400"/>
            <a:ext cx="5303520" cy="274320"/>
          </a:xfrm>
          <a:prstGeom prst="rect">
            <a:avLst/>
          </a:prstGeom>
          <a:noFill/>
        </p:spPr>
        <p:txBody>
          <a:bodyPr wrap="square">
            <a:spAutoFit/>
          </a:bodyPr>
          <a:lstStyle/>
          <a:p>
            <a:pPr algn="l">
              <a:defRPr sz="1400" b="1">
                <a:solidFill>
                  <a:srgbClr val="4F46E5"/>
                </a:solidFill>
                <a:latin typeface="Calibri"/>
              </a:defRPr>
            </a:pPr>
            <a:r>
              <a:t>→  AI-native from day one</a:t>
            </a:r>
          </a:p>
        </p:txBody>
      </p:sp>
      <p:sp>
        <p:nvSpPr>
          <p:cNvPr id="22" name="TextBox 21"/>
          <p:cNvSpPr txBox="1"/>
          <p:nvPr/>
        </p:nvSpPr>
        <p:spPr>
          <a:xfrm>
            <a:off x="6720840" y="5760720"/>
            <a:ext cx="5029200" cy="457200"/>
          </a:xfrm>
          <a:prstGeom prst="rect">
            <a:avLst/>
          </a:prstGeom>
          <a:noFill/>
        </p:spPr>
        <p:txBody>
          <a:bodyPr wrap="square">
            <a:spAutoFit/>
          </a:bodyPr>
          <a:lstStyle/>
          <a:p>
            <a:pPr algn="l">
              <a:defRPr sz="1200" b="0">
                <a:solidFill>
                  <a:srgbClr val="6B7280"/>
                </a:solidFill>
                <a:latin typeface="Calibri"/>
              </a:defRPr>
            </a:pPr>
            <a:r>
              <a:t>No legacy code, no technical debt. Built for the agent economy.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731520" y="365760"/>
            <a:ext cx="3657600" cy="365760"/>
          </a:xfrm>
          <a:prstGeom prst="rect">
            <a:avLst/>
          </a:prstGeom>
          <a:noFill/>
        </p:spPr>
        <p:txBody>
          <a:bodyPr wrap="square">
            <a:spAutoFit/>
          </a:bodyPr>
          <a:lstStyle/>
          <a:p>
            <a:pPr algn="l">
              <a:defRPr sz="1100" b="1">
                <a:solidFill>
                  <a:srgbClr val="4F46E5"/>
                </a:solidFill>
                <a:latin typeface="Calibri"/>
              </a:defRPr>
            </a:pPr>
            <a:r>
              <a:t>FINANCIALS &amp; THE ASK</a:t>
            </a:r>
          </a:p>
        </p:txBody>
      </p:sp>
      <p:sp>
        <p:nvSpPr>
          <p:cNvPr id="3" name="TextBox 2"/>
          <p:cNvSpPr txBox="1"/>
          <p:nvPr/>
        </p:nvSpPr>
        <p:spPr>
          <a:xfrm>
            <a:off x="731520" y="731520"/>
            <a:ext cx="9144000" cy="731520"/>
          </a:xfrm>
          <a:prstGeom prst="rect">
            <a:avLst/>
          </a:prstGeom>
          <a:noFill/>
        </p:spPr>
        <p:txBody>
          <a:bodyPr wrap="square">
            <a:spAutoFit/>
          </a:bodyPr>
          <a:lstStyle/>
          <a:p>
            <a:pPr algn="l">
              <a:defRPr sz="3600" b="1">
                <a:solidFill>
                  <a:srgbClr val="1A1A1A"/>
                </a:solidFill>
                <a:latin typeface="Calibri"/>
              </a:defRPr>
            </a:pPr>
            <a:r>
              <a:t>Raising 2.8M SAR Pre-Seed</a:t>
            </a:r>
          </a:p>
        </p:txBody>
      </p:sp>
      <p:sp>
        <p:nvSpPr>
          <p:cNvPr id="4" name="TextBox 3"/>
          <p:cNvSpPr txBox="1"/>
          <p:nvPr/>
        </p:nvSpPr>
        <p:spPr>
          <a:xfrm>
            <a:off x="731520" y="1280160"/>
            <a:ext cx="8229600" cy="548640"/>
          </a:xfrm>
          <a:prstGeom prst="rect">
            <a:avLst/>
          </a:prstGeom>
          <a:noFill/>
        </p:spPr>
        <p:txBody>
          <a:bodyPr wrap="square">
            <a:spAutoFit/>
          </a:bodyPr>
          <a:lstStyle/>
          <a:p>
            <a:pPr algn="l">
              <a:defRPr sz="1600" b="0">
                <a:solidFill>
                  <a:srgbClr val="6B7280"/>
                </a:solidFill>
                <a:latin typeface="Calibri"/>
              </a:defRPr>
            </a:pPr>
            <a:r>
              <a:t>Clear path from pre-seed to scale.</a:t>
            </a:r>
          </a:p>
        </p:txBody>
      </p:sp>
      <p:sp>
        <p:nvSpPr>
          <p:cNvPr id="5" name="Rectangle 4"/>
          <p:cNvSpPr/>
          <p:nvPr/>
        </p:nvSpPr>
        <p:spPr>
          <a:xfrm>
            <a:off x="731520" y="5669280"/>
            <a:ext cx="5486400" cy="254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4572000" cy="274320"/>
          </a:xfrm>
          <a:prstGeom prst="rect">
            <a:avLst/>
          </a:prstGeom>
          <a:noFill/>
        </p:spPr>
        <p:txBody>
          <a:bodyPr wrap="square">
            <a:spAutoFit/>
          </a:bodyPr>
          <a:lstStyle/>
          <a:p>
            <a:pPr algn="l">
              <a:defRPr sz="1200" b="1">
                <a:solidFill>
                  <a:srgbClr val="6B7280"/>
                </a:solidFill>
                <a:latin typeface="Calibri"/>
              </a:defRPr>
            </a:pPr>
            <a:r>
              <a:t>Revenue Projections — ARR (SAR)</a:t>
            </a:r>
          </a:p>
        </p:txBody>
      </p:sp>
      <p:sp>
        <p:nvSpPr>
          <p:cNvPr id="7" name="Rounded Rectangle 6"/>
          <p:cNvSpPr/>
          <p:nvPr/>
        </p:nvSpPr>
        <p:spPr>
          <a:xfrm>
            <a:off x="914400" y="5413248"/>
            <a:ext cx="822960" cy="256032"/>
          </a:xfrm>
          <a:prstGeom prst="roundRect">
            <a:avLst>
              <a:gd name="adj" fmla="val 8000"/>
            </a:avLst>
          </a:prstGeom>
          <a:solidFill>
            <a:srgbClr val="9B9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138928"/>
            <a:ext cx="1097280" cy="274320"/>
          </a:xfrm>
          <a:prstGeom prst="rect">
            <a:avLst/>
          </a:prstGeom>
          <a:noFill/>
        </p:spPr>
        <p:txBody>
          <a:bodyPr wrap="square">
            <a:spAutoFit/>
          </a:bodyPr>
          <a:lstStyle/>
          <a:p>
            <a:pPr algn="ctr">
              <a:defRPr sz="1100" b="1">
                <a:solidFill>
                  <a:srgbClr val="4F46E5"/>
                </a:solidFill>
                <a:latin typeface="Calibri"/>
              </a:defRPr>
            </a:pPr>
            <a:r>
              <a:t>2.4M</a:t>
            </a:r>
          </a:p>
        </p:txBody>
      </p:sp>
      <p:sp>
        <p:nvSpPr>
          <p:cNvPr id="9" name="TextBox 8"/>
          <p:cNvSpPr txBox="1"/>
          <p:nvPr/>
        </p:nvSpPr>
        <p:spPr>
          <a:xfrm>
            <a:off x="777240" y="5760720"/>
            <a:ext cx="1097280" cy="274320"/>
          </a:xfrm>
          <a:prstGeom prst="rect">
            <a:avLst/>
          </a:prstGeom>
          <a:noFill/>
        </p:spPr>
        <p:txBody>
          <a:bodyPr wrap="square">
            <a:spAutoFit/>
          </a:bodyPr>
          <a:lstStyle/>
          <a:p>
            <a:pPr algn="ctr">
              <a:defRPr sz="1100" b="1">
                <a:solidFill>
                  <a:srgbClr val="6B7280"/>
                </a:solidFill>
                <a:latin typeface="Calibri"/>
              </a:defRPr>
            </a:pPr>
            <a:r>
              <a:t>Year 1</a:t>
            </a:r>
          </a:p>
        </p:txBody>
      </p:sp>
      <p:sp>
        <p:nvSpPr>
          <p:cNvPr id="10" name="Rounded Rectangle 9"/>
          <p:cNvSpPr/>
          <p:nvPr/>
        </p:nvSpPr>
        <p:spPr>
          <a:xfrm>
            <a:off x="1965960" y="5093208"/>
            <a:ext cx="822960" cy="576072"/>
          </a:xfrm>
          <a:prstGeom prst="roundRect">
            <a:avLst>
              <a:gd name="adj" fmla="val 8000"/>
            </a:avLst>
          </a:prstGeom>
          <a:solidFill>
            <a:srgbClr val="847C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4818888"/>
            <a:ext cx="1097280" cy="274320"/>
          </a:xfrm>
          <a:prstGeom prst="rect">
            <a:avLst/>
          </a:prstGeom>
          <a:noFill/>
        </p:spPr>
        <p:txBody>
          <a:bodyPr wrap="square">
            <a:spAutoFit/>
          </a:bodyPr>
          <a:lstStyle/>
          <a:p>
            <a:pPr algn="ctr">
              <a:defRPr sz="1100" b="1">
                <a:solidFill>
                  <a:srgbClr val="4F46E5"/>
                </a:solidFill>
                <a:latin typeface="Calibri"/>
              </a:defRPr>
            </a:pPr>
            <a:r>
              <a:t>12.8M</a:t>
            </a:r>
          </a:p>
        </p:txBody>
      </p:sp>
      <p:sp>
        <p:nvSpPr>
          <p:cNvPr id="12" name="TextBox 11"/>
          <p:cNvSpPr txBox="1"/>
          <p:nvPr/>
        </p:nvSpPr>
        <p:spPr>
          <a:xfrm>
            <a:off x="1828800" y="5760720"/>
            <a:ext cx="1097280" cy="274320"/>
          </a:xfrm>
          <a:prstGeom prst="rect">
            <a:avLst/>
          </a:prstGeom>
          <a:noFill/>
        </p:spPr>
        <p:txBody>
          <a:bodyPr wrap="square">
            <a:spAutoFit/>
          </a:bodyPr>
          <a:lstStyle/>
          <a:p>
            <a:pPr algn="ctr">
              <a:defRPr sz="1100" b="1">
                <a:solidFill>
                  <a:srgbClr val="6B7280"/>
                </a:solidFill>
                <a:latin typeface="Calibri"/>
              </a:defRPr>
            </a:pPr>
            <a:r>
              <a:t>Year 2</a:t>
            </a:r>
          </a:p>
        </p:txBody>
      </p:sp>
      <p:sp>
        <p:nvSpPr>
          <p:cNvPr id="13" name="Rounded Rectangle 12"/>
          <p:cNvSpPr/>
          <p:nvPr/>
        </p:nvSpPr>
        <p:spPr>
          <a:xfrm>
            <a:off x="3017520" y="4549140"/>
            <a:ext cx="822960" cy="1120140"/>
          </a:xfrm>
          <a:prstGeom prst="roundRect">
            <a:avLst>
              <a:gd name="adj" fmla="val 8000"/>
            </a:avLst>
          </a:prstGeom>
          <a:solidFill>
            <a:srgbClr val="6D6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0360" y="4274820"/>
            <a:ext cx="1097280" cy="274320"/>
          </a:xfrm>
          <a:prstGeom prst="rect">
            <a:avLst/>
          </a:prstGeom>
          <a:noFill/>
        </p:spPr>
        <p:txBody>
          <a:bodyPr wrap="square">
            <a:spAutoFit/>
          </a:bodyPr>
          <a:lstStyle/>
          <a:p>
            <a:pPr algn="ctr">
              <a:defRPr sz="1100" b="1">
                <a:solidFill>
                  <a:srgbClr val="4F46E5"/>
                </a:solidFill>
                <a:latin typeface="Calibri"/>
              </a:defRPr>
            </a:pPr>
            <a:r>
              <a:t>37.5M</a:t>
            </a:r>
          </a:p>
        </p:txBody>
      </p:sp>
      <p:sp>
        <p:nvSpPr>
          <p:cNvPr id="15" name="TextBox 14"/>
          <p:cNvSpPr txBox="1"/>
          <p:nvPr/>
        </p:nvSpPr>
        <p:spPr>
          <a:xfrm>
            <a:off x="2880360" y="5760720"/>
            <a:ext cx="1097280" cy="274320"/>
          </a:xfrm>
          <a:prstGeom prst="rect">
            <a:avLst/>
          </a:prstGeom>
          <a:noFill/>
        </p:spPr>
        <p:txBody>
          <a:bodyPr wrap="square">
            <a:spAutoFit/>
          </a:bodyPr>
          <a:lstStyle/>
          <a:p>
            <a:pPr algn="ctr">
              <a:defRPr sz="1100" b="1">
                <a:solidFill>
                  <a:srgbClr val="6B7280"/>
                </a:solidFill>
                <a:latin typeface="Calibri"/>
              </a:defRPr>
            </a:pPr>
            <a:r>
              <a:t>Year 3</a:t>
            </a:r>
          </a:p>
        </p:txBody>
      </p:sp>
      <p:sp>
        <p:nvSpPr>
          <p:cNvPr id="16" name="Rounded Rectangle 15"/>
          <p:cNvSpPr/>
          <p:nvPr/>
        </p:nvSpPr>
        <p:spPr>
          <a:xfrm>
            <a:off x="4069080" y="3749040"/>
            <a:ext cx="822960" cy="1920240"/>
          </a:xfrm>
          <a:prstGeom prst="roundRect">
            <a:avLst>
              <a:gd name="adj" fmla="val 8000"/>
            </a:avLst>
          </a:prstGeom>
          <a:solidFill>
            <a:srgbClr val="5E55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0" y="3474720"/>
            <a:ext cx="1097280" cy="274320"/>
          </a:xfrm>
          <a:prstGeom prst="rect">
            <a:avLst/>
          </a:prstGeom>
          <a:noFill/>
        </p:spPr>
        <p:txBody>
          <a:bodyPr wrap="square">
            <a:spAutoFit/>
          </a:bodyPr>
          <a:lstStyle/>
          <a:p>
            <a:pPr algn="ctr">
              <a:defRPr sz="1100" b="1">
                <a:solidFill>
                  <a:srgbClr val="4F46E5"/>
                </a:solidFill>
                <a:latin typeface="Calibri"/>
              </a:defRPr>
            </a:pPr>
            <a:r>
              <a:t>112.5M</a:t>
            </a:r>
          </a:p>
        </p:txBody>
      </p:sp>
      <p:sp>
        <p:nvSpPr>
          <p:cNvPr id="18" name="TextBox 17"/>
          <p:cNvSpPr txBox="1"/>
          <p:nvPr/>
        </p:nvSpPr>
        <p:spPr>
          <a:xfrm>
            <a:off x="3931920" y="5760720"/>
            <a:ext cx="1097280" cy="274320"/>
          </a:xfrm>
          <a:prstGeom prst="rect">
            <a:avLst/>
          </a:prstGeom>
          <a:noFill/>
        </p:spPr>
        <p:txBody>
          <a:bodyPr wrap="square">
            <a:spAutoFit/>
          </a:bodyPr>
          <a:lstStyle/>
          <a:p>
            <a:pPr algn="ctr">
              <a:defRPr sz="1100" b="1">
                <a:solidFill>
                  <a:srgbClr val="6B7280"/>
                </a:solidFill>
                <a:latin typeface="Calibri"/>
              </a:defRPr>
            </a:pPr>
            <a:r>
              <a:t>Year 4</a:t>
            </a:r>
          </a:p>
        </p:txBody>
      </p:sp>
      <p:sp>
        <p:nvSpPr>
          <p:cNvPr id="19" name="Rounded Rectangle 18"/>
          <p:cNvSpPr/>
          <p:nvPr/>
        </p:nvSpPr>
        <p:spPr>
          <a:xfrm>
            <a:off x="5120640" y="2468880"/>
            <a:ext cx="822960" cy="3200400"/>
          </a:xfrm>
          <a:prstGeom prst="roundRect">
            <a:avLst>
              <a:gd name="adj" fmla="val 8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83480" y="2194560"/>
            <a:ext cx="1097280" cy="274320"/>
          </a:xfrm>
          <a:prstGeom prst="rect">
            <a:avLst/>
          </a:prstGeom>
          <a:noFill/>
        </p:spPr>
        <p:txBody>
          <a:bodyPr wrap="square">
            <a:spAutoFit/>
          </a:bodyPr>
          <a:lstStyle/>
          <a:p>
            <a:pPr algn="ctr">
              <a:defRPr sz="1100" b="1">
                <a:solidFill>
                  <a:srgbClr val="4F46E5"/>
                </a:solidFill>
                <a:latin typeface="Calibri"/>
              </a:defRPr>
            </a:pPr>
            <a:r>
              <a:t>300M</a:t>
            </a:r>
          </a:p>
        </p:txBody>
      </p:sp>
      <p:sp>
        <p:nvSpPr>
          <p:cNvPr id="21" name="TextBox 20"/>
          <p:cNvSpPr txBox="1"/>
          <p:nvPr/>
        </p:nvSpPr>
        <p:spPr>
          <a:xfrm>
            <a:off x="4983480" y="5760720"/>
            <a:ext cx="1097280" cy="274320"/>
          </a:xfrm>
          <a:prstGeom prst="rect">
            <a:avLst/>
          </a:prstGeom>
          <a:noFill/>
        </p:spPr>
        <p:txBody>
          <a:bodyPr wrap="square">
            <a:spAutoFit/>
          </a:bodyPr>
          <a:lstStyle/>
          <a:p>
            <a:pPr algn="ctr">
              <a:defRPr sz="1100" b="1">
                <a:solidFill>
                  <a:srgbClr val="6B7280"/>
                </a:solidFill>
                <a:latin typeface="Calibri"/>
              </a:defRPr>
            </a:pPr>
            <a:r>
              <a:t>Year 5</a:t>
            </a:r>
          </a:p>
        </p:txBody>
      </p:sp>
      <p:sp>
        <p:nvSpPr>
          <p:cNvPr id="22" name="Rounded Rectangle 21"/>
          <p:cNvSpPr/>
          <p:nvPr/>
        </p:nvSpPr>
        <p:spPr>
          <a:xfrm>
            <a:off x="6583680" y="1828800"/>
            <a:ext cx="4846320" cy="1188720"/>
          </a:xfrm>
          <a:prstGeom prst="roundRect">
            <a:avLst>
              <a:gd name="adj" fmla="val 5000"/>
            </a:avLst>
          </a:prstGeom>
          <a:solidFill>
            <a:srgbClr val="EDEDFB"/>
          </a:solidFill>
          <a:ln w="12700">
            <a:solidFill>
              <a:srgbClr val="D6D3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1965960"/>
            <a:ext cx="4846320" cy="548640"/>
          </a:xfrm>
          <a:prstGeom prst="rect">
            <a:avLst/>
          </a:prstGeom>
          <a:noFill/>
        </p:spPr>
        <p:txBody>
          <a:bodyPr wrap="square">
            <a:spAutoFit/>
          </a:bodyPr>
          <a:lstStyle/>
          <a:p>
            <a:pPr algn="ctr">
              <a:defRPr sz="3200" b="1">
                <a:solidFill>
                  <a:srgbClr val="4F46E5"/>
                </a:solidFill>
                <a:latin typeface="Calibri"/>
              </a:defRPr>
            </a:pPr>
            <a:r>
              <a:t>2.8M SAR</a:t>
            </a:r>
          </a:p>
        </p:txBody>
      </p:sp>
      <p:sp>
        <p:nvSpPr>
          <p:cNvPr id="24" name="TextBox 23"/>
          <p:cNvSpPr txBox="1"/>
          <p:nvPr/>
        </p:nvSpPr>
        <p:spPr>
          <a:xfrm>
            <a:off x="6583680" y="2468880"/>
            <a:ext cx="4846320" cy="365760"/>
          </a:xfrm>
          <a:prstGeom prst="rect">
            <a:avLst/>
          </a:prstGeom>
          <a:noFill/>
        </p:spPr>
        <p:txBody>
          <a:bodyPr wrap="square">
            <a:spAutoFit/>
          </a:bodyPr>
          <a:lstStyle/>
          <a:p>
            <a:pPr algn="ctr">
              <a:defRPr sz="1300" b="0">
                <a:solidFill>
                  <a:srgbClr val="6B7280"/>
                </a:solidFill>
                <a:latin typeface="Calibri"/>
              </a:defRPr>
            </a:pPr>
            <a:r>
              <a:t>Pre-Seed · SAFE at 19-30M SAR valuation cap</a:t>
            </a:r>
          </a:p>
        </p:txBody>
      </p:sp>
      <p:sp>
        <p:nvSpPr>
          <p:cNvPr id="25" name="TextBox 24"/>
          <p:cNvSpPr txBox="1"/>
          <p:nvPr/>
        </p:nvSpPr>
        <p:spPr>
          <a:xfrm>
            <a:off x="6583680" y="3200400"/>
            <a:ext cx="4572000" cy="274320"/>
          </a:xfrm>
          <a:prstGeom prst="rect">
            <a:avLst/>
          </a:prstGeom>
          <a:noFill/>
        </p:spPr>
        <p:txBody>
          <a:bodyPr wrap="square">
            <a:spAutoFit/>
          </a:bodyPr>
          <a:lstStyle/>
          <a:p>
            <a:pPr algn="l">
              <a:defRPr sz="1200" b="1">
                <a:solidFill>
                  <a:srgbClr val="6B7280"/>
                </a:solidFill>
                <a:latin typeface="Calibri"/>
              </a:defRPr>
            </a:pPr>
            <a:r>
              <a:t>Use of Funds</a:t>
            </a:r>
          </a:p>
        </p:txBody>
      </p:sp>
      <p:sp>
        <p:nvSpPr>
          <p:cNvPr id="26" name="Rectangle 25"/>
          <p:cNvSpPr/>
          <p:nvPr/>
        </p:nvSpPr>
        <p:spPr>
          <a:xfrm>
            <a:off x="6583680" y="3520440"/>
            <a:ext cx="1938528" cy="3200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0" y="3538728"/>
            <a:ext cx="1938528" cy="283464"/>
          </a:xfrm>
          <a:prstGeom prst="rect">
            <a:avLst/>
          </a:prstGeom>
          <a:noFill/>
        </p:spPr>
        <p:txBody>
          <a:bodyPr wrap="square">
            <a:spAutoFit/>
          </a:bodyPr>
          <a:lstStyle/>
          <a:p>
            <a:pPr algn="ctr">
              <a:defRPr sz="900" b="1">
                <a:solidFill>
                  <a:srgbClr val="FFFFFF"/>
                </a:solidFill>
                <a:latin typeface="Calibri"/>
              </a:defRPr>
            </a:pPr>
            <a:r>
              <a:t>40%</a:t>
            </a:r>
          </a:p>
        </p:txBody>
      </p:sp>
      <p:sp>
        <p:nvSpPr>
          <p:cNvPr id="28" name="Rectangle 27"/>
          <p:cNvSpPr/>
          <p:nvPr/>
        </p:nvSpPr>
        <p:spPr>
          <a:xfrm>
            <a:off x="8522208" y="3520440"/>
            <a:ext cx="630021" cy="3200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22208" y="3538728"/>
            <a:ext cx="630021" cy="283464"/>
          </a:xfrm>
          <a:prstGeom prst="rect">
            <a:avLst/>
          </a:prstGeom>
          <a:noFill/>
        </p:spPr>
        <p:txBody>
          <a:bodyPr wrap="square">
            <a:spAutoFit/>
          </a:bodyPr>
          <a:lstStyle/>
          <a:p>
            <a:pPr algn="ctr">
              <a:defRPr sz="900" b="1">
                <a:solidFill>
                  <a:srgbClr val="FFFFFF"/>
                </a:solidFill>
                <a:latin typeface="Calibri"/>
              </a:defRPr>
            </a:pPr>
            <a:r>
              <a:t>13%</a:t>
            </a:r>
          </a:p>
        </p:txBody>
      </p:sp>
      <p:sp>
        <p:nvSpPr>
          <p:cNvPr id="30" name="Rectangle 29"/>
          <p:cNvSpPr/>
          <p:nvPr/>
        </p:nvSpPr>
        <p:spPr>
          <a:xfrm>
            <a:off x="9152229" y="3520440"/>
            <a:ext cx="339242" cy="32004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491471" y="3520440"/>
            <a:ext cx="630021" cy="3200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91471" y="3538728"/>
            <a:ext cx="630021" cy="283464"/>
          </a:xfrm>
          <a:prstGeom prst="rect">
            <a:avLst/>
          </a:prstGeom>
          <a:noFill/>
        </p:spPr>
        <p:txBody>
          <a:bodyPr wrap="square">
            <a:spAutoFit/>
          </a:bodyPr>
          <a:lstStyle/>
          <a:p>
            <a:pPr algn="ctr">
              <a:defRPr sz="900" b="1">
                <a:solidFill>
                  <a:srgbClr val="FFFFFF"/>
                </a:solidFill>
                <a:latin typeface="Calibri"/>
              </a:defRPr>
            </a:pPr>
            <a:r>
              <a:t>13%</a:t>
            </a:r>
          </a:p>
        </p:txBody>
      </p:sp>
      <p:sp>
        <p:nvSpPr>
          <p:cNvPr id="33" name="Rectangle 32"/>
          <p:cNvSpPr/>
          <p:nvPr/>
        </p:nvSpPr>
        <p:spPr>
          <a:xfrm>
            <a:off x="10121492" y="3520440"/>
            <a:ext cx="969264" cy="3200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21492" y="3538728"/>
            <a:ext cx="969264" cy="283464"/>
          </a:xfrm>
          <a:prstGeom prst="rect">
            <a:avLst/>
          </a:prstGeom>
          <a:noFill/>
        </p:spPr>
        <p:txBody>
          <a:bodyPr wrap="square">
            <a:spAutoFit/>
          </a:bodyPr>
          <a:lstStyle/>
          <a:p>
            <a:pPr algn="ctr">
              <a:defRPr sz="900" b="1">
                <a:solidFill>
                  <a:srgbClr val="FFFFFF"/>
                </a:solidFill>
                <a:latin typeface="Calibri"/>
              </a:defRPr>
            </a:pPr>
            <a:r>
              <a:t>20%</a:t>
            </a:r>
          </a:p>
        </p:txBody>
      </p:sp>
      <p:sp>
        <p:nvSpPr>
          <p:cNvPr id="35" name="Rectangle 34"/>
          <p:cNvSpPr/>
          <p:nvPr/>
        </p:nvSpPr>
        <p:spPr>
          <a:xfrm>
            <a:off x="11090756" y="3520440"/>
            <a:ext cx="339242" cy="320040"/>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583680" y="4023359"/>
            <a:ext cx="109728" cy="1097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48272" y="3977639"/>
            <a:ext cx="1371600" cy="228600"/>
          </a:xfrm>
          <a:prstGeom prst="rect">
            <a:avLst/>
          </a:prstGeom>
          <a:noFill/>
        </p:spPr>
        <p:txBody>
          <a:bodyPr wrap="square">
            <a:spAutoFit/>
          </a:bodyPr>
          <a:lstStyle/>
          <a:p>
            <a:pPr algn="l">
              <a:defRPr sz="1000" b="0">
                <a:solidFill>
                  <a:srgbClr val="6B7280"/>
                </a:solidFill>
                <a:latin typeface="Calibri"/>
              </a:defRPr>
            </a:pPr>
            <a:r>
              <a:t>Engineering 40%</a:t>
            </a:r>
          </a:p>
        </p:txBody>
      </p:sp>
      <p:sp>
        <p:nvSpPr>
          <p:cNvPr id="38" name="Rectangle 37"/>
          <p:cNvSpPr/>
          <p:nvPr/>
        </p:nvSpPr>
        <p:spPr>
          <a:xfrm>
            <a:off x="8229600" y="4023359"/>
            <a:ext cx="109728" cy="10972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94192" y="3977639"/>
            <a:ext cx="1371600" cy="228600"/>
          </a:xfrm>
          <a:prstGeom prst="rect">
            <a:avLst/>
          </a:prstGeom>
          <a:noFill/>
        </p:spPr>
        <p:txBody>
          <a:bodyPr wrap="square">
            <a:spAutoFit/>
          </a:bodyPr>
          <a:lstStyle/>
          <a:p>
            <a:pPr algn="l">
              <a:defRPr sz="1000" b="0">
                <a:solidFill>
                  <a:srgbClr val="6B7280"/>
                </a:solidFill>
                <a:latin typeface="Calibri"/>
              </a:defRPr>
            </a:pPr>
            <a:r>
              <a:t>LLM/Infra 13%</a:t>
            </a:r>
          </a:p>
        </p:txBody>
      </p:sp>
      <p:sp>
        <p:nvSpPr>
          <p:cNvPr id="40" name="Rectangle 39"/>
          <p:cNvSpPr/>
          <p:nvPr/>
        </p:nvSpPr>
        <p:spPr>
          <a:xfrm>
            <a:off x="9875520" y="4023359"/>
            <a:ext cx="109728" cy="10972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40112" y="3977639"/>
            <a:ext cx="1371600" cy="228600"/>
          </a:xfrm>
          <a:prstGeom prst="rect">
            <a:avLst/>
          </a:prstGeom>
          <a:noFill/>
        </p:spPr>
        <p:txBody>
          <a:bodyPr wrap="square">
            <a:spAutoFit/>
          </a:bodyPr>
          <a:lstStyle/>
          <a:p>
            <a:pPr algn="l">
              <a:defRPr sz="1000" b="0">
                <a:solidFill>
                  <a:srgbClr val="6B7280"/>
                </a:solidFill>
                <a:latin typeface="Calibri"/>
              </a:defRPr>
            </a:pPr>
            <a:r>
              <a:t>Legal 7%</a:t>
            </a:r>
          </a:p>
        </p:txBody>
      </p:sp>
      <p:sp>
        <p:nvSpPr>
          <p:cNvPr id="42" name="Rectangle 41"/>
          <p:cNvSpPr/>
          <p:nvPr/>
        </p:nvSpPr>
        <p:spPr>
          <a:xfrm>
            <a:off x="6583680" y="4297679"/>
            <a:ext cx="109728"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48272" y="4251959"/>
            <a:ext cx="1371600" cy="228600"/>
          </a:xfrm>
          <a:prstGeom prst="rect">
            <a:avLst/>
          </a:prstGeom>
          <a:noFill/>
        </p:spPr>
        <p:txBody>
          <a:bodyPr wrap="square">
            <a:spAutoFit/>
          </a:bodyPr>
          <a:lstStyle/>
          <a:p>
            <a:pPr algn="l">
              <a:defRPr sz="1000" b="0">
                <a:solidFill>
                  <a:srgbClr val="6B7280"/>
                </a:solidFill>
                <a:latin typeface="Calibri"/>
              </a:defRPr>
            </a:pPr>
            <a:r>
              <a:t>Marketing 13%</a:t>
            </a:r>
          </a:p>
        </p:txBody>
      </p:sp>
      <p:sp>
        <p:nvSpPr>
          <p:cNvPr id="44" name="Rectangle 43"/>
          <p:cNvSpPr/>
          <p:nvPr/>
        </p:nvSpPr>
        <p:spPr>
          <a:xfrm>
            <a:off x="8229600" y="4297679"/>
            <a:ext cx="109728" cy="10972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94192" y="4251959"/>
            <a:ext cx="1371600" cy="228600"/>
          </a:xfrm>
          <a:prstGeom prst="rect">
            <a:avLst/>
          </a:prstGeom>
          <a:noFill/>
        </p:spPr>
        <p:txBody>
          <a:bodyPr wrap="square">
            <a:spAutoFit/>
          </a:bodyPr>
          <a:lstStyle/>
          <a:p>
            <a:pPr algn="l">
              <a:defRPr sz="1000" b="0">
                <a:solidFill>
                  <a:srgbClr val="6B7280"/>
                </a:solidFill>
                <a:latin typeface="Calibri"/>
              </a:defRPr>
            </a:pPr>
            <a:r>
              <a:t>Salaries 20%</a:t>
            </a:r>
          </a:p>
        </p:txBody>
      </p:sp>
      <p:sp>
        <p:nvSpPr>
          <p:cNvPr id="46" name="Rectangle 45"/>
          <p:cNvSpPr/>
          <p:nvPr/>
        </p:nvSpPr>
        <p:spPr>
          <a:xfrm>
            <a:off x="9875520" y="4297679"/>
            <a:ext cx="109728" cy="109728"/>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40112" y="4251959"/>
            <a:ext cx="1371600" cy="228600"/>
          </a:xfrm>
          <a:prstGeom prst="rect">
            <a:avLst/>
          </a:prstGeom>
          <a:noFill/>
        </p:spPr>
        <p:txBody>
          <a:bodyPr wrap="square">
            <a:spAutoFit/>
          </a:bodyPr>
          <a:lstStyle/>
          <a:p>
            <a:pPr algn="l">
              <a:defRPr sz="1000" b="0">
                <a:solidFill>
                  <a:srgbClr val="6B7280"/>
                </a:solidFill>
                <a:latin typeface="Calibri"/>
              </a:defRPr>
            </a:pPr>
            <a:r>
              <a:t>Buffer 7%</a:t>
            </a:r>
          </a:p>
        </p:txBody>
      </p:sp>
      <p:sp>
        <p:nvSpPr>
          <p:cNvPr id="48" name="TextBox 47"/>
          <p:cNvSpPr txBox="1"/>
          <p:nvPr/>
        </p:nvSpPr>
        <p:spPr>
          <a:xfrm>
            <a:off x="6583680" y="4663440"/>
            <a:ext cx="4572000" cy="274320"/>
          </a:xfrm>
          <a:prstGeom prst="rect">
            <a:avLst/>
          </a:prstGeom>
          <a:noFill/>
        </p:spPr>
        <p:txBody>
          <a:bodyPr wrap="square">
            <a:spAutoFit/>
          </a:bodyPr>
          <a:lstStyle/>
          <a:p>
            <a:pPr algn="l">
              <a:defRPr sz="1200" b="1">
                <a:solidFill>
                  <a:srgbClr val="6B7280"/>
                </a:solidFill>
                <a:latin typeface="Calibri"/>
              </a:defRPr>
            </a:pPr>
            <a:r>
              <a:t>18-Month Milestones</a:t>
            </a:r>
          </a:p>
        </p:txBody>
      </p:sp>
      <p:sp>
        <p:nvSpPr>
          <p:cNvPr id="49" name="TextBox 48"/>
          <p:cNvSpPr txBox="1"/>
          <p:nvPr/>
        </p:nvSpPr>
        <p:spPr>
          <a:xfrm>
            <a:off x="6858000" y="4983480"/>
            <a:ext cx="4389120" cy="274320"/>
          </a:xfrm>
          <a:prstGeom prst="rect">
            <a:avLst/>
          </a:prstGeom>
          <a:noFill/>
        </p:spPr>
        <p:txBody>
          <a:bodyPr wrap="square">
            <a:spAutoFit/>
          </a:bodyPr>
          <a:lstStyle/>
          <a:p>
            <a:pPr algn="l">
              <a:defRPr sz="1200" b="0">
                <a:solidFill>
                  <a:srgbClr val="6B7280"/>
                </a:solidFill>
                <a:latin typeface="Calibri"/>
              </a:defRPr>
            </a:pPr>
            <a:r>
              <a:t>○  Launch MVP — Employee Services Agent live</a:t>
            </a:r>
          </a:p>
        </p:txBody>
      </p:sp>
      <p:sp>
        <p:nvSpPr>
          <p:cNvPr id="50" name="TextBox 49"/>
          <p:cNvSpPr txBox="1"/>
          <p:nvPr/>
        </p:nvSpPr>
        <p:spPr>
          <a:xfrm>
            <a:off x="6858000" y="5303520"/>
            <a:ext cx="4389120" cy="274320"/>
          </a:xfrm>
          <a:prstGeom prst="rect">
            <a:avLst/>
          </a:prstGeom>
          <a:noFill/>
        </p:spPr>
        <p:txBody>
          <a:bodyPr wrap="square">
            <a:spAutoFit/>
          </a:bodyPr>
          <a:lstStyle/>
          <a:p>
            <a:pPr algn="l">
              <a:defRPr sz="1200" b="0">
                <a:solidFill>
                  <a:srgbClr val="6B7280"/>
                </a:solidFill>
                <a:latin typeface="Calibri"/>
              </a:defRPr>
            </a:pPr>
            <a:r>
              <a:t>○  20+ paying customers in Saudi Arabia</a:t>
            </a:r>
          </a:p>
        </p:txBody>
      </p:sp>
      <p:sp>
        <p:nvSpPr>
          <p:cNvPr id="51" name="TextBox 50"/>
          <p:cNvSpPr txBox="1"/>
          <p:nvPr/>
        </p:nvSpPr>
        <p:spPr>
          <a:xfrm>
            <a:off x="6858000" y="5623560"/>
            <a:ext cx="4389120" cy="274320"/>
          </a:xfrm>
          <a:prstGeom prst="rect">
            <a:avLst/>
          </a:prstGeom>
          <a:noFill/>
        </p:spPr>
        <p:txBody>
          <a:bodyPr wrap="square">
            <a:spAutoFit/>
          </a:bodyPr>
          <a:lstStyle/>
          <a:p>
            <a:pPr algn="l">
              <a:defRPr sz="1200" b="0">
                <a:solidFill>
                  <a:srgbClr val="6B7280"/>
                </a:solidFill>
                <a:latin typeface="Calibri"/>
              </a:defRPr>
            </a:pPr>
            <a:r>
              <a:t>○  1.9M SAR ARR milestone</a:t>
            </a:r>
          </a:p>
        </p:txBody>
      </p:sp>
      <p:sp>
        <p:nvSpPr>
          <p:cNvPr id="52" name="TextBox 51"/>
          <p:cNvSpPr txBox="1"/>
          <p:nvPr/>
        </p:nvSpPr>
        <p:spPr>
          <a:xfrm>
            <a:off x="6858000" y="5943600"/>
            <a:ext cx="4389120" cy="274320"/>
          </a:xfrm>
          <a:prstGeom prst="rect">
            <a:avLst/>
          </a:prstGeom>
          <a:noFill/>
        </p:spPr>
        <p:txBody>
          <a:bodyPr wrap="square">
            <a:spAutoFit/>
          </a:bodyPr>
          <a:lstStyle/>
          <a:p>
            <a:pPr algn="l">
              <a:defRPr sz="1200" b="0">
                <a:solidFill>
                  <a:srgbClr val="6B7280"/>
                </a:solidFill>
                <a:latin typeface="Calibri"/>
              </a:defRPr>
            </a:pPr>
            <a:r>
              <a:t>○  Raise Seed round (7.5-15M SAR)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0" y="1371600"/>
            <a:ext cx="12191695" cy="731520"/>
          </a:xfrm>
          <a:prstGeom prst="rect">
            <a:avLst/>
          </a:prstGeom>
          <a:noFill/>
        </p:spPr>
        <p:txBody>
          <a:bodyPr wrap="square">
            <a:spAutoFit/>
          </a:bodyPr>
          <a:lstStyle/>
          <a:p>
            <a:pPr algn="ctr">
              <a:defRPr sz="4000" b="1">
                <a:solidFill>
                  <a:srgbClr val="1A1A1A"/>
                </a:solidFill>
                <a:latin typeface="Calibri"/>
              </a:defRPr>
            </a:pPr>
            <a:r>
              <a:t>Every company will have an AI HR department.</a:t>
            </a:r>
          </a:p>
        </p:txBody>
      </p:sp>
      <p:sp>
        <p:nvSpPr>
          <p:cNvPr id="3" name="TextBox 2"/>
          <p:cNvSpPr txBox="1"/>
          <p:nvPr/>
        </p:nvSpPr>
        <p:spPr>
          <a:xfrm>
            <a:off x="0" y="2194560"/>
            <a:ext cx="12191695" cy="731520"/>
          </a:xfrm>
          <a:prstGeom prst="rect">
            <a:avLst/>
          </a:prstGeom>
          <a:noFill/>
        </p:spPr>
        <p:txBody>
          <a:bodyPr wrap="square">
            <a:spAutoFit/>
          </a:bodyPr>
          <a:lstStyle/>
          <a:p>
            <a:pPr algn="ctr">
              <a:defRPr sz="4000" b="1">
                <a:solidFill>
                  <a:srgbClr val="4F46E5"/>
                </a:solidFill>
                <a:latin typeface="Calibri"/>
              </a:defRPr>
            </a:pPr>
            <a:r>
              <a:t>We're building it.</a:t>
            </a:r>
          </a:p>
        </p:txBody>
      </p:sp>
      <p:sp>
        <p:nvSpPr>
          <p:cNvPr id="4" name="TextBox 3"/>
          <p:cNvSpPr txBox="1"/>
          <p:nvPr/>
        </p:nvSpPr>
        <p:spPr>
          <a:xfrm>
            <a:off x="0" y="3200400"/>
            <a:ext cx="12191695" cy="365760"/>
          </a:xfrm>
          <a:prstGeom prst="rect">
            <a:avLst/>
          </a:prstGeom>
          <a:noFill/>
        </p:spPr>
        <p:txBody>
          <a:bodyPr wrap="square">
            <a:spAutoFit/>
          </a:bodyPr>
          <a:lstStyle/>
          <a:p>
            <a:pPr algn="ctr">
              <a:defRPr sz="1600" b="1">
                <a:solidFill>
                  <a:srgbClr val="6B7280"/>
                </a:solidFill>
                <a:latin typeface="Calibri"/>
              </a:defRPr>
            </a:pPr>
            <a:r>
              <a:t>Krew — Your AI HR Department</a:t>
            </a:r>
          </a:p>
        </p:txBody>
      </p:sp>
      <p:sp>
        <p:nvSpPr>
          <p:cNvPr id="5" name="Oval 4"/>
          <p:cNvSpPr/>
          <p:nvPr/>
        </p:nvSpPr>
        <p:spPr>
          <a:xfrm>
            <a:off x="4434840" y="3840480"/>
            <a:ext cx="438912" cy="438912"/>
          </a:xfrm>
          <a:prstGeom prst="ellipse">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600" b="1">
                <a:solidFill>
                  <a:srgbClr val="4F46E5"/>
                </a:solidFill>
                <a:latin typeface="Calibri"/>
              </a:defRPr>
            </a:pPr>
            <a:r>
              <a:t>D</a:t>
            </a:r>
          </a:p>
        </p:txBody>
      </p:sp>
      <p:sp>
        <p:nvSpPr>
          <p:cNvPr id="6" name="Oval 5"/>
          <p:cNvSpPr/>
          <p:nvPr/>
        </p:nvSpPr>
        <p:spPr>
          <a:xfrm>
            <a:off x="5029200" y="3840480"/>
            <a:ext cx="438912" cy="438912"/>
          </a:xfrm>
          <a:prstGeom prst="ellipse">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600" b="1">
                <a:solidFill>
                  <a:srgbClr val="2563EB"/>
                </a:solidFill>
                <a:latin typeface="Calibri"/>
              </a:defRPr>
            </a:pPr>
            <a:r>
              <a:t>W</a:t>
            </a:r>
          </a:p>
        </p:txBody>
      </p:sp>
      <p:sp>
        <p:nvSpPr>
          <p:cNvPr id="7" name="Oval 6"/>
          <p:cNvSpPr/>
          <p:nvPr/>
        </p:nvSpPr>
        <p:spPr>
          <a:xfrm>
            <a:off x="5623560" y="3840480"/>
            <a:ext cx="438912" cy="438912"/>
          </a:xfrm>
          <a:prstGeom prst="ellipse">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600" b="1">
                <a:solidFill>
                  <a:srgbClr val="16A34A"/>
                </a:solidFill>
                <a:latin typeface="Calibri"/>
              </a:defRPr>
            </a:pPr>
            <a:r>
              <a:t>M</a:t>
            </a:r>
          </a:p>
        </p:txBody>
      </p:sp>
      <p:sp>
        <p:nvSpPr>
          <p:cNvPr id="8" name="Oval 7"/>
          <p:cNvSpPr/>
          <p:nvPr/>
        </p:nvSpPr>
        <p:spPr>
          <a:xfrm>
            <a:off x="6217920" y="3840480"/>
            <a:ext cx="438912" cy="438912"/>
          </a:xfrm>
          <a:prstGeom prst="ellipse">
            <a:avLst/>
          </a:prstGeom>
          <a:solidFill>
            <a:srgbClr val="FCE7F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600" b="1">
                <a:solidFill>
                  <a:srgbClr val="DB2777"/>
                </a:solidFill>
                <a:latin typeface="Calibri"/>
              </a:defRPr>
            </a:pPr>
            <a:r>
              <a:t>Y</a:t>
            </a:r>
          </a:p>
        </p:txBody>
      </p:sp>
      <p:sp>
        <p:nvSpPr>
          <p:cNvPr id="9" name="Oval 8"/>
          <p:cNvSpPr/>
          <p:nvPr/>
        </p:nvSpPr>
        <p:spPr>
          <a:xfrm>
            <a:off x="6812280" y="3840480"/>
            <a:ext cx="438912" cy="438912"/>
          </a:xfrm>
          <a:prstGeom prst="ellipse">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600" b="1">
                <a:solidFill>
                  <a:srgbClr val="EA580C"/>
                </a:solidFill>
                <a:latin typeface="Calibri"/>
              </a:defRPr>
            </a:pPr>
            <a:r>
              <a:t>N</a:t>
            </a:r>
          </a:p>
        </p:txBody>
      </p:sp>
      <p:sp>
        <p:nvSpPr>
          <p:cNvPr id="10" name="Oval 9"/>
          <p:cNvSpPr/>
          <p:nvPr/>
        </p:nvSpPr>
        <p:spPr>
          <a:xfrm>
            <a:off x="7406640" y="3840480"/>
            <a:ext cx="438912" cy="438912"/>
          </a:xfrm>
          <a:prstGeom prst="ellipse">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600" b="1">
                <a:solidFill>
                  <a:srgbClr val="7C3AED"/>
                </a:solidFill>
                <a:latin typeface="Calibri"/>
              </a:defRPr>
            </a:pPr>
            <a:r>
              <a:t>S</a:t>
            </a:r>
          </a:p>
        </p:txBody>
      </p:sp>
      <p:sp>
        <p:nvSpPr>
          <p:cNvPr id="11" name="Rounded Rectangle 10"/>
          <p:cNvSpPr/>
          <p:nvPr/>
        </p:nvSpPr>
        <p:spPr>
          <a:xfrm>
            <a:off x="5029200" y="4754880"/>
            <a:ext cx="2103120" cy="548640"/>
          </a:xfrm>
          <a:prstGeom prst="roundRect">
            <a:avLst>
              <a:gd name="adj" fmla="val 5000"/>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0" y="4800600"/>
            <a:ext cx="2103120" cy="457200"/>
          </a:xfrm>
          <a:prstGeom prst="rect">
            <a:avLst/>
          </a:prstGeom>
          <a:noFill/>
        </p:spPr>
        <p:txBody>
          <a:bodyPr wrap="square">
            <a:spAutoFit/>
          </a:bodyPr>
          <a:lstStyle/>
          <a:p>
            <a:pPr algn="ctr">
              <a:defRPr sz="1600" b="1">
                <a:solidFill>
                  <a:srgbClr val="FFFFFF"/>
                </a:solidFill>
                <a:latin typeface="Calibri"/>
              </a:defRPr>
            </a:pPr>
            <a:r>
              <a:t>Let's talk</a:t>
            </a:r>
          </a:p>
        </p:txBody>
      </p:sp>
      <p:sp>
        <p:nvSpPr>
          <p:cNvPr id="13" name="TextBox 12"/>
          <p:cNvSpPr txBox="1"/>
          <p:nvPr/>
        </p:nvSpPr>
        <p:spPr>
          <a:xfrm>
            <a:off x="0" y="5577840"/>
            <a:ext cx="12191695" cy="274320"/>
          </a:xfrm>
          <a:prstGeom prst="rect">
            <a:avLst/>
          </a:prstGeom>
          <a:noFill/>
        </p:spPr>
        <p:txBody>
          <a:bodyPr wrap="square">
            <a:spAutoFit/>
          </a:bodyPr>
          <a:lstStyle/>
          <a:p>
            <a:pPr algn="ctr">
              <a:defRPr sz="1400" b="0">
                <a:solidFill>
                  <a:srgbClr val="9CA3AF"/>
                </a:solidFill>
                <a:latin typeface="Calibri"/>
              </a:defRPr>
            </a:pPr>
            <a:r>
              <a:t>Ahmad Al Ghamdi &amp; Najwa Al Ghamdi</a:t>
            </a:r>
          </a:p>
        </p:txBody>
      </p:sp>
      <p:sp>
        <p:nvSpPr>
          <p:cNvPr id="14" name="TextBox 13"/>
          <p:cNvSpPr txBox="1"/>
          <p:nvPr/>
        </p:nvSpPr>
        <p:spPr>
          <a:xfrm>
            <a:off x="0" y="5852160"/>
            <a:ext cx="12191695" cy="274320"/>
          </a:xfrm>
          <a:prstGeom prst="rect">
            <a:avLst/>
          </a:prstGeom>
          <a:noFill/>
        </p:spPr>
        <p:txBody>
          <a:bodyPr wrap="square">
            <a:spAutoFit/>
          </a:bodyPr>
          <a:lstStyle/>
          <a:p>
            <a:pPr algn="ctr">
              <a:defRPr sz="1400" b="0">
                <a:solidFill>
                  <a:srgbClr val="9CA3AF"/>
                </a:solidFill>
                <a:latin typeface="Calibri"/>
              </a:defRPr>
            </a:pPr>
            <a:r>
              <a:t>krew.sa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